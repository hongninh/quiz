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A80"/>
        </a:solidFill>
      </p:bgPr>
    </p:bg>
    <p:spTree>
      <p:nvGrpSpPr>
        <p:cNvPr id="1" name=""/>
        <p:cNvGrpSpPr/>
        <p:nvPr/>
      </p:nvGrpSpPr>
      <p:grpSpPr>
        <a:xfrm>
          <a:off x="0" y="0"/>
          <a:ext cx="0" cy="0"/>
          <a:chOff x="0" y="0"/>
          <a:chExt cx="0" cy="0"/>
        </a:xfrm>
      </p:grpSpPr>
      <p:sp>
        <p:nvSpPr>
          <p:cNvPr id="2" name="Shape 0"/>
          <p:cNvSpPr/>
          <p:nvPr/>
        </p:nvSpPr>
        <p:spPr>
          <a:xfrm>
            <a:off x="5760720" y="822960"/>
            <a:ext cx="3017520" cy="3017520"/>
          </a:xfrm>
          <a:prstGeom prst="ellipse">
            <a:avLst/>
          </a:prstGeom>
          <a:solidFill>
            <a:srgbClr val="FFFFFF">
              <a:alpha val="10000"/>
            </a:srgbClr>
          </a:solidFill>
          <a:ln w="12700">
            <a:solidFill>
              <a:srgbClr val="FFFFFF">
                <a:alpha val="25000"/>
              </a:srgbClr>
            </a:solidFill>
            <a:prstDash val="solid"/>
          </a:ln>
        </p:spPr>
      </p:sp>
      <p:sp>
        <p:nvSpPr>
          <p:cNvPr id="3" name="Shape 1"/>
          <p:cNvSpPr/>
          <p:nvPr/>
        </p:nvSpPr>
        <p:spPr>
          <a:xfrm>
            <a:off x="6355080" y="1417320"/>
            <a:ext cx="1828800" cy="1828800"/>
          </a:xfrm>
          <a:prstGeom prst="ellipse">
            <a:avLst/>
          </a:prstGeom>
          <a:solidFill>
            <a:srgbClr val="FFC24B"/>
          </a:solidFill>
          <a:ln w="12700">
            <a:solidFill>
              <a:srgbClr val="FFC24B"/>
            </a:solidFill>
            <a:prstDash val="solid"/>
          </a:ln>
        </p:spPr>
      </p:sp>
      <p:pic>
        <p:nvPicPr>
          <p:cNvPr id="4" name="Image 0" descr="preencoded.png">    </p:cNvPr>
          <p:cNvPicPr>
            <a:picLocks noChangeAspect="1"/>
          </p:cNvPicPr>
          <p:nvPr/>
        </p:nvPicPr>
        <p:blipFill>
          <a:blip r:embed="rId1"/>
          <a:stretch>
            <a:fillRect/>
          </a:stretch>
        </p:blipFill>
        <p:spPr>
          <a:xfrm>
            <a:off x="6675120" y="1737360"/>
            <a:ext cx="1188720" cy="1188720"/>
          </a:xfrm>
          <a:prstGeom prst="rect">
            <a:avLst/>
          </a:prstGeom>
        </p:spPr>
      </p:pic>
      <p:sp>
        <p:nvSpPr>
          <p:cNvPr id="5" name="Text 2"/>
          <p:cNvSpPr txBox="1"/>
          <p:nvPr/>
        </p:nvSpPr>
        <p:spPr>
          <a:xfrm>
            <a:off x="548640" y="960120"/>
            <a:ext cx="5120640" cy="320040"/>
          </a:xfrm>
          <a:prstGeom prst="rect">
            <a:avLst/>
          </a:prstGeom>
          <a:noFill/>
          <a:ln/>
        </p:spPr>
        <p:txBody>
          <a:bodyPr wrap="square" lIns="0" tIns="0" rIns="0" bIns="0" rtlCol="0" anchor="t"/>
          <a:lstStyle/>
          <a:p>
            <a:pPr indent="0" marL="0">
              <a:buNone/>
            </a:pPr>
            <a:r>
              <a:rPr lang="en-US" sz="1400" b="1" spc="400" kern="0" dirty="0">
                <a:solidFill>
                  <a:srgbClr val="FFC24B"/>
                </a:solidFill>
                <a:latin typeface="Calibri" pitchFamily="34" charset="0"/>
                <a:ea typeface="Calibri" pitchFamily="34" charset="-122"/>
                <a:cs typeface="Calibri" pitchFamily="34" charset="-120"/>
              </a:rPr>
              <a:t>ĐỀ XUẤT ĐỒNG HÀNH</a:t>
            </a:r>
            <a:endParaRPr lang="en-US" sz="1400" dirty="0"/>
          </a:p>
        </p:txBody>
      </p:sp>
      <p:sp>
        <p:nvSpPr>
          <p:cNvPr id="6" name="Text 3"/>
          <p:cNvSpPr txBox="1"/>
          <p:nvPr/>
        </p:nvSpPr>
        <p:spPr>
          <a:xfrm>
            <a:off x="548640" y="1325880"/>
            <a:ext cx="521208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VÙNG TRỜI</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BÌNH YÊN</a:t>
            </a:r>
            <a:endParaRPr lang="en-US" sz="4600" dirty="0"/>
          </a:p>
        </p:txBody>
      </p:sp>
      <p:sp>
        <p:nvSpPr>
          <p:cNvPr id="7" name="Text 4"/>
          <p:cNvSpPr txBox="1"/>
          <p:nvPr/>
        </p:nvSpPr>
        <p:spPr>
          <a:xfrm>
            <a:off x="548640" y="3017520"/>
            <a:ext cx="4937760" cy="731520"/>
          </a:xfrm>
          <a:prstGeom prst="rect">
            <a:avLst/>
          </a:prstGeom>
          <a:noFill/>
          <a:ln/>
        </p:spPr>
        <p:txBody>
          <a:bodyPr wrap="square" lIns="0" tIns="0" rIns="0" bIns="0" rtlCol="0" anchor="t"/>
          <a:lstStyle/>
          <a:p>
            <a:pPr indent="0" marL="0">
              <a:buNone/>
            </a:pPr>
            <a:r>
              <a:rPr lang="en-US" sz="1700" dirty="0">
                <a:solidFill>
                  <a:srgbClr val="CFE6FF"/>
                </a:solidFill>
                <a:latin typeface="Calibri" pitchFamily="34" charset="0"/>
                <a:ea typeface="Calibri" pitchFamily="34" charset="-122"/>
                <a:cs typeface="Calibri" pitchFamily="34" charset="-120"/>
              </a:rPr>
              <a:t>Chương trình tuyên truyền, khảo sát an toàn hàng không dành cho học sinh, sinh viên</a:t>
            </a:r>
            <a:endParaRPr lang="en-US" sz="1700" dirty="0"/>
          </a:p>
        </p:txBody>
      </p:sp>
      <p:sp>
        <p:nvSpPr>
          <p:cNvPr id="8" name="Text 5"/>
          <p:cNvSpPr txBox="1"/>
          <p:nvPr/>
        </p:nvSpPr>
        <p:spPr>
          <a:xfrm>
            <a:off x="548640" y="3931920"/>
            <a:ext cx="493776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Kính gửi: Hãng hàng không đồng hành</a:t>
            </a:r>
            <a:endParaRPr lang="en-US" sz="1300" dirty="0"/>
          </a:p>
        </p:txBody>
      </p:sp>
      <p:sp>
        <p:nvSpPr>
          <p:cNvPr id="9" name="Text 6"/>
          <p:cNvSpPr txBox="1"/>
          <p:nvPr/>
        </p:nvSpPr>
        <p:spPr>
          <a:xfrm>
            <a:off x="548640" y="4343400"/>
            <a:ext cx="4937760" cy="320040"/>
          </a:xfrm>
          <a:prstGeom prst="rect">
            <a:avLst/>
          </a:prstGeom>
          <a:noFill/>
          <a:ln/>
        </p:spPr>
        <p:txBody>
          <a:bodyPr wrap="square" lIns="0" tIns="0" rIns="0" bIns="0" rtlCol="0" anchor="t"/>
          <a:lstStyle/>
          <a:p>
            <a:pPr indent="0" marL="0">
              <a:buNone/>
            </a:pPr>
            <a:r>
              <a:rPr lang="en-US" sz="1500" b="1" dirty="0">
                <a:solidFill>
                  <a:srgbClr val="FFC24B"/>
                </a:solidFill>
                <a:latin typeface="Calibri" pitchFamily="34" charset="0"/>
                <a:ea typeface="Calibri" pitchFamily="34" charset="-122"/>
                <a:cs typeface="Calibri" pitchFamily="34" charset="-120"/>
              </a:rPr>
              <a:t>BVOT GROUP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4DA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Tóm tắt chương trình</a:t>
            </a:r>
            <a:endParaRPr lang="en-US" sz="3000" dirty="0"/>
          </a:p>
        </p:txBody>
      </p:sp>
      <p:sp>
        <p:nvSpPr>
          <p:cNvPr id="3" name="Text 1"/>
          <p:cNvSpPr txBox="1"/>
          <p:nvPr/>
        </p:nvSpPr>
        <p:spPr>
          <a:xfrm>
            <a:off x="457200" y="1188720"/>
            <a:ext cx="4023360" cy="274320"/>
          </a:xfrm>
          <a:prstGeom prst="rect">
            <a:avLst/>
          </a:prstGeom>
          <a:noFill/>
          <a:ln/>
        </p:spPr>
        <p:txBody>
          <a:bodyPr wrap="square" lIns="0" tIns="0" rIns="0" bIns="0" rtlCol="0" anchor="t"/>
          <a:lstStyle/>
          <a:p>
            <a:pPr indent="0" marL="0">
              <a:buNone/>
            </a:pPr>
            <a:r>
              <a:rPr lang="en-US" sz="1300" b="1" spc="200" kern="0" dirty="0">
                <a:solidFill>
                  <a:srgbClr val="FFC24B"/>
                </a:solidFill>
                <a:latin typeface="Calibri" pitchFamily="34" charset="0"/>
                <a:ea typeface="Calibri" pitchFamily="34" charset="-122"/>
                <a:cs typeface="Calibri" pitchFamily="34" charset="-120"/>
              </a:rPr>
              <a:t>BỐI CẢNH</a:t>
            </a:r>
            <a:endParaRPr lang="en-US" sz="1300" dirty="0"/>
          </a:p>
        </p:txBody>
      </p:sp>
      <p:sp>
        <p:nvSpPr>
          <p:cNvPr id="4" name="Text 2"/>
          <p:cNvSpPr txBox="1"/>
          <p:nvPr/>
        </p:nvSpPr>
        <p:spPr>
          <a:xfrm>
            <a:off x="457200" y="1481328"/>
            <a:ext cx="4023360" cy="9601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Công văn 15008/BXD-VT&amp;ATGT (22/9/2026) của Bộ Xây dựng đề nghị BVOT phối hợp với cơ quan có thẩm quyền địa phương khảo sát, tuyên truyền nâng cao an toàn hàng không.</a:t>
            </a:r>
            <a:endParaRPr lang="en-US" sz="1400" dirty="0"/>
          </a:p>
        </p:txBody>
      </p:sp>
      <p:sp>
        <p:nvSpPr>
          <p:cNvPr id="5" name="Text 3"/>
          <p:cNvSpPr txBox="1"/>
          <p:nvPr/>
        </p:nvSpPr>
        <p:spPr>
          <a:xfrm>
            <a:off x="457200" y="2514600"/>
            <a:ext cx="4023360" cy="274320"/>
          </a:xfrm>
          <a:prstGeom prst="rect">
            <a:avLst/>
          </a:prstGeom>
          <a:noFill/>
          <a:ln/>
        </p:spPr>
        <p:txBody>
          <a:bodyPr wrap="square" lIns="0" tIns="0" rIns="0" bIns="0" rtlCol="0" anchor="t"/>
          <a:lstStyle/>
          <a:p>
            <a:pPr indent="0" marL="0">
              <a:buNone/>
            </a:pPr>
            <a:r>
              <a:rPr lang="en-US" sz="1300" b="1" spc="200" kern="0" dirty="0">
                <a:solidFill>
                  <a:srgbClr val="FFC24B"/>
                </a:solidFill>
                <a:latin typeface="Calibri" pitchFamily="34" charset="0"/>
                <a:ea typeface="Calibri" pitchFamily="34" charset="-122"/>
                <a:cs typeface="Calibri" pitchFamily="34" charset="-120"/>
              </a:rPr>
              <a:t>CHƯƠNG TRÌNH “VÙNG TRỜI BÌNH YÊN”</a:t>
            </a:r>
            <a:endParaRPr lang="en-US" sz="1300" dirty="0"/>
          </a:p>
        </p:txBody>
      </p:sp>
      <p:sp>
        <p:nvSpPr>
          <p:cNvPr id="6" name="Text 4"/>
          <p:cNvSpPr txBox="1"/>
          <p:nvPr/>
        </p:nvSpPr>
        <p:spPr>
          <a:xfrm>
            <a:off x="457200" y="2807208"/>
            <a:ext cx="402336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Giúp học sinh, sinh viên nhận diện nguy cơ, hiểu vì sao nguy hiểm và biết cách ứng xử. Thí điểm tại THPT Trung Giã, Sóc Sơn, Hà Nội (gần sân bay Nội Bài).</a:t>
            </a:r>
            <a:endParaRPr lang="en-US" sz="1400" dirty="0"/>
          </a:p>
        </p:txBody>
      </p:sp>
      <p:sp>
        <p:nvSpPr>
          <p:cNvPr id="7" name="Text 5"/>
          <p:cNvSpPr txBox="1"/>
          <p:nvPr/>
        </p:nvSpPr>
        <p:spPr>
          <a:xfrm>
            <a:off x="4846320" y="1188720"/>
            <a:ext cx="3840480" cy="274320"/>
          </a:xfrm>
          <a:prstGeom prst="rect">
            <a:avLst/>
          </a:prstGeom>
          <a:noFill/>
          <a:ln/>
        </p:spPr>
        <p:txBody>
          <a:bodyPr wrap="square" lIns="0" tIns="0" rIns="0" bIns="0" rtlCol="0" anchor="t"/>
          <a:lstStyle/>
          <a:p>
            <a:pPr indent="0" marL="0">
              <a:buNone/>
            </a:pPr>
            <a:r>
              <a:rPr lang="en-US" sz="1300" b="1" spc="200" kern="0" dirty="0">
                <a:solidFill>
                  <a:srgbClr val="FFC24B"/>
                </a:solidFill>
                <a:latin typeface="Calibri" pitchFamily="34" charset="0"/>
                <a:ea typeface="Calibri" pitchFamily="34" charset="-122"/>
                <a:cs typeface="Calibri" pitchFamily="34" charset="-120"/>
              </a:rPr>
              <a:t>3 NHÓM NGUY CƠ GẦN SÂN BAY</a:t>
            </a:r>
            <a:endParaRPr lang="en-US" sz="1300" dirty="0"/>
          </a:p>
        </p:txBody>
      </p:sp>
      <p:sp>
        <p:nvSpPr>
          <p:cNvPr id="8" name="Shape 6"/>
          <p:cNvSpPr/>
          <p:nvPr/>
        </p:nvSpPr>
        <p:spPr>
          <a:xfrm>
            <a:off x="4846320" y="1508760"/>
            <a:ext cx="3840480" cy="658368"/>
          </a:xfrm>
          <a:prstGeom prst="roundRect">
            <a:avLst>
              <a:gd name="adj" fmla="val 16667"/>
            </a:avLst>
          </a:prstGeom>
          <a:solidFill>
            <a:srgbClr val="FFFFFF">
              <a:alpha val="12000"/>
            </a:srgbClr>
          </a:solidFill>
          <a:ln w="9525">
            <a:solidFill>
              <a:srgbClr val="FFFFFF">
                <a:alpha val="20000"/>
              </a:srgbClr>
            </a:solidFill>
            <a:prstDash val="solid"/>
          </a:ln>
        </p:spPr>
      </p:sp>
      <p:sp>
        <p:nvSpPr>
          <p:cNvPr id="9" name="Shape 7"/>
          <p:cNvSpPr/>
          <p:nvPr/>
        </p:nvSpPr>
        <p:spPr>
          <a:xfrm>
            <a:off x="4956048" y="1591056"/>
            <a:ext cx="493776" cy="493776"/>
          </a:xfrm>
          <a:prstGeom prst="ellipse">
            <a:avLst/>
          </a:prstGeom>
          <a:solidFill>
            <a:srgbClr val="FFC24B"/>
          </a:solidFill>
          <a:ln w="12700">
            <a:solidFill>
              <a:srgbClr val="FFC24B"/>
            </a:solidFill>
            <a:prstDash val="solid"/>
          </a:ln>
        </p:spPr>
      </p:sp>
      <p:pic>
        <p:nvPicPr>
          <p:cNvPr id="10" name="Image 0" descr="preencoded.png">    </p:cNvPr>
          <p:cNvPicPr>
            <a:picLocks noChangeAspect="1"/>
          </p:cNvPicPr>
          <p:nvPr/>
        </p:nvPicPr>
        <p:blipFill>
          <a:blip r:embed="rId1"/>
          <a:stretch>
            <a:fillRect/>
          </a:stretch>
        </p:blipFill>
        <p:spPr>
          <a:xfrm>
            <a:off x="5074554" y="1709562"/>
            <a:ext cx="256764" cy="256764"/>
          </a:xfrm>
          <a:prstGeom prst="rect">
            <a:avLst/>
          </a:prstGeom>
        </p:spPr>
      </p:pic>
      <p:sp>
        <p:nvSpPr>
          <p:cNvPr id="11" name="Text 8"/>
          <p:cNvSpPr txBox="1"/>
          <p:nvPr/>
        </p:nvSpPr>
        <p:spPr>
          <a:xfrm>
            <a:off x="5577840" y="1581912"/>
            <a:ext cx="30175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Diều, bóng bay, đèn trời</a:t>
            </a:r>
            <a:endParaRPr lang="en-US" sz="1400" dirty="0"/>
          </a:p>
        </p:txBody>
      </p:sp>
      <p:sp>
        <p:nvSpPr>
          <p:cNvPr id="12" name="Text 9"/>
          <p:cNvSpPr txBox="1"/>
          <p:nvPr/>
        </p:nvSpPr>
        <p:spPr>
          <a:xfrm>
            <a:off x="5577840" y="1847088"/>
            <a:ext cx="3017520" cy="25603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Có thể bay vào đường bay của tàu bay</a:t>
            </a:r>
            <a:endParaRPr lang="en-US" sz="1150" dirty="0"/>
          </a:p>
        </p:txBody>
      </p:sp>
      <p:sp>
        <p:nvSpPr>
          <p:cNvPr id="13" name="Shape 10"/>
          <p:cNvSpPr/>
          <p:nvPr/>
        </p:nvSpPr>
        <p:spPr>
          <a:xfrm>
            <a:off x="4846320" y="2286000"/>
            <a:ext cx="3840480" cy="658368"/>
          </a:xfrm>
          <a:prstGeom prst="roundRect">
            <a:avLst>
              <a:gd name="adj" fmla="val 16667"/>
            </a:avLst>
          </a:prstGeom>
          <a:solidFill>
            <a:srgbClr val="FFFFFF">
              <a:alpha val="12000"/>
            </a:srgbClr>
          </a:solidFill>
          <a:ln w="9525">
            <a:solidFill>
              <a:srgbClr val="FFFFFF">
                <a:alpha val="20000"/>
              </a:srgbClr>
            </a:solidFill>
            <a:prstDash val="solid"/>
          </a:ln>
        </p:spPr>
      </p:sp>
      <p:sp>
        <p:nvSpPr>
          <p:cNvPr id="14" name="Shape 11"/>
          <p:cNvSpPr/>
          <p:nvPr/>
        </p:nvSpPr>
        <p:spPr>
          <a:xfrm>
            <a:off x="4956048" y="2368296"/>
            <a:ext cx="493776" cy="493776"/>
          </a:xfrm>
          <a:prstGeom prst="ellipse">
            <a:avLst/>
          </a:prstGeom>
          <a:solidFill>
            <a:srgbClr val="FFC24B"/>
          </a:solidFill>
          <a:ln w="12700">
            <a:solidFill>
              <a:srgbClr val="FFC24B"/>
            </a:solidFill>
            <a:prstDash val="solid"/>
          </a:ln>
        </p:spPr>
      </p:sp>
      <p:pic>
        <p:nvPicPr>
          <p:cNvPr id="15" name="Image 1" descr="preencoded.png">    </p:cNvPr>
          <p:cNvPicPr>
            <a:picLocks noChangeAspect="1"/>
          </p:cNvPicPr>
          <p:nvPr/>
        </p:nvPicPr>
        <p:blipFill>
          <a:blip r:embed="rId2"/>
          <a:stretch>
            <a:fillRect/>
          </a:stretch>
        </p:blipFill>
        <p:spPr>
          <a:xfrm>
            <a:off x="5074554" y="2486802"/>
            <a:ext cx="256764" cy="256764"/>
          </a:xfrm>
          <a:prstGeom prst="rect">
            <a:avLst/>
          </a:prstGeom>
        </p:spPr>
      </p:pic>
      <p:sp>
        <p:nvSpPr>
          <p:cNvPr id="16" name="Text 12"/>
          <p:cNvSpPr txBox="1"/>
          <p:nvPr/>
        </p:nvSpPr>
        <p:spPr>
          <a:xfrm>
            <a:off x="5577840" y="2359152"/>
            <a:ext cx="30175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Flycam, UAV, drone</a:t>
            </a:r>
            <a:endParaRPr lang="en-US" sz="1400" dirty="0"/>
          </a:p>
        </p:txBody>
      </p:sp>
      <p:sp>
        <p:nvSpPr>
          <p:cNvPr id="17" name="Text 13"/>
          <p:cNvSpPr txBox="1"/>
          <p:nvPr/>
        </p:nvSpPr>
        <p:spPr>
          <a:xfrm>
            <a:off x="5577840" y="2624328"/>
            <a:ext cx="3017520" cy="25603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Có thể bay vào khu vực cần bảo vệ</a:t>
            </a:r>
            <a:endParaRPr lang="en-US" sz="1150" dirty="0"/>
          </a:p>
        </p:txBody>
      </p:sp>
      <p:sp>
        <p:nvSpPr>
          <p:cNvPr id="18" name="Shape 14"/>
          <p:cNvSpPr/>
          <p:nvPr/>
        </p:nvSpPr>
        <p:spPr>
          <a:xfrm>
            <a:off x="4846320" y="3063240"/>
            <a:ext cx="3840480" cy="658368"/>
          </a:xfrm>
          <a:prstGeom prst="roundRect">
            <a:avLst>
              <a:gd name="adj" fmla="val 16667"/>
            </a:avLst>
          </a:prstGeom>
          <a:solidFill>
            <a:srgbClr val="FFFFFF">
              <a:alpha val="12000"/>
            </a:srgbClr>
          </a:solidFill>
          <a:ln w="9525">
            <a:solidFill>
              <a:srgbClr val="FFFFFF">
                <a:alpha val="20000"/>
              </a:srgbClr>
            </a:solidFill>
            <a:prstDash val="solid"/>
          </a:ln>
        </p:spPr>
      </p:sp>
      <p:sp>
        <p:nvSpPr>
          <p:cNvPr id="19" name="Shape 15"/>
          <p:cNvSpPr/>
          <p:nvPr/>
        </p:nvSpPr>
        <p:spPr>
          <a:xfrm>
            <a:off x="4956048" y="3145536"/>
            <a:ext cx="493776" cy="493776"/>
          </a:xfrm>
          <a:prstGeom prst="ellipse">
            <a:avLst/>
          </a:prstGeom>
          <a:solidFill>
            <a:srgbClr val="FFC24B"/>
          </a:solidFill>
          <a:ln w="12700">
            <a:solidFill>
              <a:srgbClr val="FFC24B"/>
            </a:solidFill>
            <a:prstDash val="solid"/>
          </a:ln>
        </p:spPr>
      </p:sp>
      <p:pic>
        <p:nvPicPr>
          <p:cNvPr id="20" name="Image 2" descr="preencoded.png">    </p:cNvPr>
          <p:cNvPicPr>
            <a:picLocks noChangeAspect="1"/>
          </p:cNvPicPr>
          <p:nvPr/>
        </p:nvPicPr>
        <p:blipFill>
          <a:blip r:embed="rId3"/>
          <a:stretch>
            <a:fillRect/>
          </a:stretch>
        </p:blipFill>
        <p:spPr>
          <a:xfrm>
            <a:off x="5074554" y="3264042"/>
            <a:ext cx="256764" cy="256764"/>
          </a:xfrm>
          <a:prstGeom prst="rect">
            <a:avLst/>
          </a:prstGeom>
        </p:spPr>
      </p:pic>
      <p:sp>
        <p:nvSpPr>
          <p:cNvPr id="21" name="Text 16"/>
          <p:cNvSpPr txBox="1"/>
          <p:nvPr/>
        </p:nvSpPr>
        <p:spPr>
          <a:xfrm>
            <a:off x="5577840" y="3136392"/>
            <a:ext cx="301752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Đèn laser, đèn công suất lớn</a:t>
            </a:r>
            <a:endParaRPr lang="en-US" sz="1400" dirty="0"/>
          </a:p>
        </p:txBody>
      </p:sp>
      <p:sp>
        <p:nvSpPr>
          <p:cNvPr id="22" name="Text 17"/>
          <p:cNvSpPr txBox="1"/>
          <p:nvPr/>
        </p:nvSpPr>
        <p:spPr>
          <a:xfrm>
            <a:off x="5577840" y="3401568"/>
            <a:ext cx="3017520" cy="25603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Làm chói mắt, ảnh hưởng tầm nhìn phi công</a:t>
            </a:r>
            <a:endParaRPr lang="en-US" sz="1150" dirty="0"/>
          </a:p>
        </p:txBody>
      </p:sp>
      <p:sp>
        <p:nvSpPr>
          <p:cNvPr id="23" name="Shape 18"/>
          <p:cNvSpPr/>
          <p:nvPr/>
        </p:nvSpPr>
        <p:spPr>
          <a:xfrm>
            <a:off x="457200" y="4023360"/>
            <a:ext cx="4023360" cy="685800"/>
          </a:xfrm>
          <a:prstGeom prst="roundRect">
            <a:avLst>
              <a:gd name="adj" fmla="val 16000"/>
            </a:avLst>
          </a:prstGeom>
          <a:solidFill>
            <a:srgbClr val="FFFFFF">
              <a:alpha val="12000"/>
            </a:srgbClr>
          </a:solidFill>
          <a:ln w="9525">
            <a:solidFill>
              <a:srgbClr val="FFFFFF">
                <a:alpha val="20000"/>
              </a:srgbClr>
            </a:solidFill>
            <a:prstDash val="solid"/>
          </a:ln>
        </p:spPr>
      </p:sp>
      <p:sp>
        <p:nvSpPr>
          <p:cNvPr id="24" name="Text 19"/>
          <p:cNvSpPr txBox="1"/>
          <p:nvPr/>
        </p:nvSpPr>
        <p:spPr>
          <a:xfrm>
            <a:off x="594360" y="4096512"/>
            <a:ext cx="3749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Chuyên đề + hỏi đáp có quà</a:t>
            </a:r>
            <a:endParaRPr lang="en-US" sz="1300" dirty="0"/>
          </a:p>
          <a:p>
            <a:pPr indent="0" marL="0">
              <a:buNone/>
            </a:pPr>
            <a:r>
              <a:rPr lang="en-US" sz="1300" dirty="0">
                <a:solidFill>
                  <a:srgbClr val="CFE6FF"/>
                </a:solidFill>
                <a:latin typeface="Calibri" pitchFamily="34" charset="0"/>
                <a:ea typeface="Calibri" pitchFamily="34" charset="-122"/>
                <a:cs typeface="Calibri" pitchFamily="34" charset="-120"/>
              </a:rPr>
              <a:t>33 phút, sáng thứ Hai, toàn trường</a:t>
            </a:r>
            <a:endParaRPr lang="en-US" sz="1300" dirty="0"/>
          </a:p>
        </p:txBody>
      </p:sp>
      <p:sp>
        <p:nvSpPr>
          <p:cNvPr id="25" name="Shape 20"/>
          <p:cNvSpPr/>
          <p:nvPr/>
        </p:nvSpPr>
        <p:spPr>
          <a:xfrm>
            <a:off x="4846320" y="4023360"/>
            <a:ext cx="3840480" cy="685800"/>
          </a:xfrm>
          <a:prstGeom prst="roundRect">
            <a:avLst>
              <a:gd name="adj" fmla="val 16000"/>
            </a:avLst>
          </a:prstGeom>
          <a:solidFill>
            <a:srgbClr val="FFFFFF">
              <a:alpha val="12000"/>
            </a:srgbClr>
          </a:solidFill>
          <a:ln w="9525">
            <a:solidFill>
              <a:srgbClr val="FFFFFF">
                <a:alpha val="20000"/>
              </a:srgbClr>
            </a:solidFill>
            <a:prstDash val="solid"/>
          </a:ln>
        </p:spPr>
      </p:sp>
      <p:sp>
        <p:nvSpPr>
          <p:cNvPr id="26" name="Text 21"/>
          <p:cNvSpPr txBox="1"/>
          <p:nvPr/>
        </p:nvSpPr>
        <p:spPr>
          <a:xfrm>
            <a:off x="4983480" y="4096512"/>
            <a:ext cx="356616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Khảo sát 3 lớp đại diện</a:t>
            </a:r>
            <a:endParaRPr lang="en-US" sz="1300" dirty="0"/>
          </a:p>
          <a:p>
            <a:pPr indent="0" marL="0">
              <a:buNone/>
            </a:pPr>
            <a:r>
              <a:rPr lang="en-US" sz="1300" dirty="0">
                <a:solidFill>
                  <a:srgbClr val="CFE6FF"/>
                </a:solidFill>
                <a:latin typeface="Calibri" pitchFamily="34" charset="0"/>
                <a:ea typeface="Calibri" pitchFamily="34" charset="-122"/>
                <a:cs typeface="Calibri" pitchFamily="34" charset="-120"/>
              </a:rPr>
              <a:t>Khoảng 120 học sinh, quét mã QR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4DA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Kế hoạch hành động</a:t>
            </a:r>
            <a:endParaRPr lang="en-US" sz="3000" dirty="0"/>
          </a:p>
        </p:txBody>
      </p:sp>
      <p:sp>
        <p:nvSpPr>
          <p:cNvPr id="3" name="Shape 1"/>
          <p:cNvSpPr/>
          <p:nvPr/>
        </p:nvSpPr>
        <p:spPr>
          <a:xfrm>
            <a:off x="457200" y="1188720"/>
            <a:ext cx="457200" cy="457200"/>
          </a:xfrm>
          <a:prstGeom prst="ellipse">
            <a:avLst/>
          </a:prstGeom>
          <a:solidFill>
            <a:srgbClr val="FFC24B"/>
          </a:solidFill>
          <a:ln w="12700">
            <a:solidFill>
              <a:srgbClr val="FFC24B"/>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097280" y="1170432"/>
            <a:ext cx="39319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Chuẩn bị</a:t>
            </a:r>
            <a:endParaRPr lang="en-US" sz="1400" dirty="0"/>
          </a:p>
        </p:txBody>
      </p:sp>
      <p:sp>
        <p:nvSpPr>
          <p:cNvPr id="6" name="Text 4"/>
          <p:cNvSpPr txBox="1"/>
          <p:nvPr/>
        </p:nvSpPr>
        <p:spPr>
          <a:xfrm>
            <a:off x="1097280" y="1453896"/>
            <a:ext cx="3931920" cy="457200"/>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Thống nhất với Nhà trường; BVOT soạn nội dung, câu hỏi, phiếu khảo sát; Nhà trường duyệt trước 03 ngày làm việc.</a:t>
            </a:r>
            <a:endParaRPr lang="en-US" sz="1150" dirty="0"/>
          </a:p>
        </p:txBody>
      </p:sp>
      <p:sp>
        <p:nvSpPr>
          <p:cNvPr id="7" name="Shape 5"/>
          <p:cNvSpPr/>
          <p:nvPr/>
        </p:nvSpPr>
        <p:spPr>
          <a:xfrm>
            <a:off x="457200" y="2029968"/>
            <a:ext cx="457200" cy="457200"/>
          </a:xfrm>
          <a:prstGeom prst="ellipse">
            <a:avLst/>
          </a:prstGeom>
          <a:solidFill>
            <a:srgbClr val="FFC24B"/>
          </a:solidFill>
          <a:ln w="12700">
            <a:solidFill>
              <a:srgbClr val="FFC24B"/>
            </a:solidFill>
            <a:prstDash val="solid"/>
          </a:ln>
        </p:spPr>
      </p:sp>
      <p:sp>
        <p:nvSpPr>
          <p:cNvPr id="8" name="Text 6"/>
          <p:cNvSpPr txBox="1"/>
          <p:nvPr/>
        </p:nvSpPr>
        <p:spPr>
          <a:xfrm>
            <a:off x="457200" y="2029968"/>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097280" y="2011680"/>
            <a:ext cx="39319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Tổ chức buổi mẫu tại THPT (33 phút, sân trường)</a:t>
            </a:r>
            <a:endParaRPr lang="en-US" sz="1400" dirty="0"/>
          </a:p>
        </p:txBody>
      </p:sp>
      <p:sp>
        <p:nvSpPr>
          <p:cNvPr id="10" name="Text 8"/>
          <p:cNvSpPr txBox="1"/>
          <p:nvPr/>
        </p:nvSpPr>
        <p:spPr>
          <a:xfrm>
            <a:off x="1097280" y="2295144"/>
            <a:ext cx="3931920" cy="777240"/>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MC mở đầu → Ban Giám hiệu phát biểu → cơ quan chức năng chia sẻ → chuyên đề 12 phút → hỏi đáp 10 câu có quà → cam kết “5 điều học sinh cần nhớ”.</a:t>
            </a:r>
            <a:endParaRPr lang="en-US" sz="1150" dirty="0"/>
          </a:p>
        </p:txBody>
      </p:sp>
      <p:sp>
        <p:nvSpPr>
          <p:cNvPr id="11" name="Shape 9"/>
          <p:cNvSpPr/>
          <p:nvPr/>
        </p:nvSpPr>
        <p:spPr>
          <a:xfrm>
            <a:off x="457200" y="3191256"/>
            <a:ext cx="457200" cy="457200"/>
          </a:xfrm>
          <a:prstGeom prst="ellipse">
            <a:avLst/>
          </a:prstGeom>
          <a:solidFill>
            <a:srgbClr val="FFC24B"/>
          </a:solidFill>
          <a:ln w="12700">
            <a:solidFill>
              <a:srgbClr val="FFC24B"/>
            </a:solidFill>
            <a:prstDash val="solid"/>
          </a:ln>
        </p:spPr>
      </p:sp>
      <p:sp>
        <p:nvSpPr>
          <p:cNvPr id="12" name="Text 10"/>
          <p:cNvSpPr txBox="1"/>
          <p:nvPr/>
        </p:nvSpPr>
        <p:spPr>
          <a:xfrm>
            <a:off x="457200" y="3191256"/>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097280" y="3172968"/>
            <a:ext cx="39319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Khảo sát</a:t>
            </a:r>
            <a:endParaRPr lang="en-US" sz="1400" dirty="0"/>
          </a:p>
        </p:txBody>
      </p:sp>
      <p:sp>
        <p:nvSpPr>
          <p:cNvPr id="14" name="Text 12"/>
          <p:cNvSpPr txBox="1"/>
          <p:nvPr/>
        </p:nvSpPr>
        <p:spPr>
          <a:xfrm>
            <a:off x="1097280" y="3456432"/>
            <a:ext cx="3931920" cy="457200"/>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3 lớp đại diện, 10 – 15 phút/lớp, quét mã QR, nếu Nhà trường đồng ý.</a:t>
            </a:r>
            <a:endParaRPr lang="en-US" sz="1150" dirty="0"/>
          </a:p>
        </p:txBody>
      </p:sp>
      <p:sp>
        <p:nvSpPr>
          <p:cNvPr id="15" name="Shape 13"/>
          <p:cNvSpPr/>
          <p:nvPr/>
        </p:nvSpPr>
        <p:spPr>
          <a:xfrm>
            <a:off x="457200" y="4032504"/>
            <a:ext cx="457200" cy="457200"/>
          </a:xfrm>
          <a:prstGeom prst="ellipse">
            <a:avLst/>
          </a:prstGeom>
          <a:solidFill>
            <a:srgbClr val="FFC24B"/>
          </a:solidFill>
          <a:ln w="12700">
            <a:solidFill>
              <a:srgbClr val="FFC24B"/>
            </a:solidFill>
            <a:prstDash val="solid"/>
          </a:ln>
        </p:spPr>
      </p:sp>
      <p:sp>
        <p:nvSpPr>
          <p:cNvPr id="16" name="Text 14"/>
          <p:cNvSpPr txBox="1"/>
          <p:nvPr/>
        </p:nvSpPr>
        <p:spPr>
          <a:xfrm>
            <a:off x="457200" y="4032504"/>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1097280" y="4014216"/>
            <a:ext cx="39319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Với sinh viên</a:t>
            </a:r>
            <a:endParaRPr lang="en-US" sz="1400" dirty="0"/>
          </a:p>
        </p:txBody>
      </p:sp>
      <p:sp>
        <p:nvSpPr>
          <p:cNvPr id="18" name="Text 16"/>
          <p:cNvSpPr txBox="1"/>
          <p:nvPr/>
        </p:nvSpPr>
        <p:spPr>
          <a:xfrm>
            <a:off x="1097280" y="4297680"/>
            <a:ext cx="3931920" cy="457200"/>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Dùng cùng khung chương trình, điều chỉnh thời lượng và ví dụ cho phù hợp.</a:t>
            </a:r>
            <a:endParaRPr lang="en-US" sz="1150" dirty="0"/>
          </a:p>
        </p:txBody>
      </p:sp>
      <p:sp>
        <p:nvSpPr>
          <p:cNvPr id="19" name="Shape 17"/>
          <p:cNvSpPr/>
          <p:nvPr/>
        </p:nvSpPr>
        <p:spPr>
          <a:xfrm>
            <a:off x="5349240" y="1188720"/>
            <a:ext cx="3337560" cy="3520440"/>
          </a:xfrm>
          <a:prstGeom prst="roundRect">
            <a:avLst>
              <a:gd name="adj" fmla="val 3288"/>
            </a:avLst>
          </a:prstGeom>
          <a:solidFill>
            <a:srgbClr val="FFFFFF">
              <a:alpha val="12000"/>
            </a:srgbClr>
          </a:solidFill>
          <a:ln w="9525">
            <a:solidFill>
              <a:srgbClr val="FFFFFF">
                <a:alpha val="20000"/>
              </a:srgbClr>
            </a:solidFill>
            <a:prstDash val="solid"/>
          </a:ln>
        </p:spPr>
      </p:sp>
      <p:sp>
        <p:nvSpPr>
          <p:cNvPr id="20" name="Text 18"/>
          <p:cNvSpPr txBox="1"/>
          <p:nvPr/>
        </p:nvSpPr>
        <p:spPr>
          <a:xfrm>
            <a:off x="5532120" y="1298448"/>
            <a:ext cx="3017520" cy="274320"/>
          </a:xfrm>
          <a:prstGeom prst="rect">
            <a:avLst/>
          </a:prstGeom>
          <a:noFill/>
          <a:ln/>
        </p:spPr>
        <p:txBody>
          <a:bodyPr wrap="square" lIns="0" tIns="0" rIns="0" bIns="0" rtlCol="0" anchor="t"/>
          <a:lstStyle/>
          <a:p>
            <a:pPr indent="0" marL="0">
              <a:buNone/>
            </a:pPr>
            <a:r>
              <a:rPr lang="en-US" sz="1200" b="1" spc="200" kern="0" dirty="0">
                <a:solidFill>
                  <a:srgbClr val="FFC24B"/>
                </a:solidFill>
                <a:latin typeface="Calibri" pitchFamily="34" charset="0"/>
                <a:ea typeface="Calibri" pitchFamily="34" charset="-122"/>
                <a:cs typeface="Calibri" pitchFamily="34" charset="-120"/>
              </a:rPr>
              <a:t>MỤC TIÊU 12 THÁNG</a:t>
            </a:r>
            <a:endParaRPr lang="en-US" sz="1200" dirty="0"/>
          </a:p>
        </p:txBody>
      </p:sp>
      <p:sp>
        <p:nvSpPr>
          <p:cNvPr id="21" name="Text 19"/>
          <p:cNvSpPr txBox="1"/>
          <p:nvPr/>
        </p:nvSpPr>
        <p:spPr>
          <a:xfrm>
            <a:off x="5532120" y="1572768"/>
            <a:ext cx="3017520" cy="777240"/>
          </a:xfrm>
          <a:prstGeom prst="rect">
            <a:avLst/>
          </a:prstGeom>
          <a:noFill/>
          <a:ln/>
        </p:spPr>
        <p:txBody>
          <a:bodyPr wrap="square" lIns="0" tIns="0" rIns="0" bIns="0" rtlCol="0" anchor="t"/>
          <a:lstStyle/>
          <a:p>
            <a:pPr indent="0" marL="0">
              <a:buNone/>
            </a:pPr>
            <a:r>
              <a:rPr lang="en-US" sz="4800" b="1" dirty="0">
                <a:solidFill>
                  <a:srgbClr val="FFC24B"/>
                </a:solidFill>
                <a:latin typeface="Cambria" pitchFamily="34" charset="0"/>
                <a:ea typeface="Cambria" pitchFamily="34" charset="-122"/>
                <a:cs typeface="Cambria" pitchFamily="34" charset="-120"/>
              </a:rPr>
              <a:t>50.000</a:t>
            </a:r>
            <a:endParaRPr lang="en-US" sz="4800" dirty="0"/>
          </a:p>
        </p:txBody>
      </p:sp>
      <p:sp>
        <p:nvSpPr>
          <p:cNvPr id="22" name="Text 20"/>
          <p:cNvSpPr txBox="1"/>
          <p:nvPr/>
        </p:nvSpPr>
        <p:spPr>
          <a:xfrm>
            <a:off x="5532120" y="2331720"/>
            <a:ext cx="3017520"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học sinh, sinh viên trực tiếp tham dự tại 10 sân bay</a:t>
            </a:r>
            <a:endParaRPr lang="en-US" sz="1300" dirty="0"/>
          </a:p>
        </p:txBody>
      </p:sp>
      <p:sp>
        <p:nvSpPr>
          <p:cNvPr id="23" name="Text 21"/>
          <p:cNvSpPr txBox="1"/>
          <p:nvPr/>
        </p:nvSpPr>
        <p:spPr>
          <a:xfrm>
            <a:off x="5532120" y="2834640"/>
            <a:ext cx="3017520" cy="594360"/>
          </a:xfrm>
          <a:prstGeom prst="rect">
            <a:avLst/>
          </a:prstGeom>
          <a:noFill/>
          <a:ln/>
        </p:spPr>
        <p:txBody>
          <a:bodyPr wrap="square" lIns="0" tIns="0" rIns="0" bIns="0" rtlCol="0" anchor="t"/>
          <a:lstStyle/>
          <a:p>
            <a:pPr indent="0" marL="0">
              <a:buNone/>
            </a:pPr>
            <a:r>
              <a:rPr lang="en-US" sz="1100" dirty="0">
                <a:solidFill>
                  <a:srgbClr val="CFE6FF"/>
                </a:solidFill>
                <a:latin typeface="Calibri" pitchFamily="34" charset="0"/>
                <a:ea typeface="Calibri" pitchFamily="34" charset="-122"/>
                <a:cs typeface="Calibri" pitchFamily="34" charset="-120"/>
              </a:rPr>
              <a:t>Nội Bài · Tân Sơn Nhất · Cát Bi · Long Thành · Đà Nẵng · Nha Trang · Vân Đồn · Cần Thơ · Vinh · Phú Quốc</a:t>
            </a:r>
            <a:endParaRPr lang="en-US" sz="1100" dirty="0"/>
          </a:p>
        </p:txBody>
      </p:sp>
      <p:sp>
        <p:nvSpPr>
          <p:cNvPr id="24" name="Text 22"/>
          <p:cNvSpPr txBox="1"/>
          <p:nvPr/>
        </p:nvSpPr>
        <p:spPr>
          <a:xfrm>
            <a:off x="5532120" y="3520440"/>
            <a:ext cx="3017520" cy="10972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Quý 1: thí điểm tại Hà Nội, hoàn thiện mô hình</a:t>
            </a:r>
            <a:endParaRPr lang="en-US" sz="1150" dirty="0"/>
          </a:p>
          <a:p>
            <a:pPr marL="342900" indent="-342900">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Quý 2 – 3: mở rộng các sân bay còn lại</a:t>
            </a:r>
            <a:endParaRPr lang="en-US" sz="1150" dirty="0"/>
          </a:p>
          <a:p>
            <a:pPr marL="342900" indent="-342900">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Quý 4: tổng kết, nhân rộng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4DA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Đề xuất hỗ trợ / tài trợ</a:t>
            </a:r>
            <a:endParaRPr lang="en-US" sz="3000" dirty="0"/>
          </a:p>
        </p:txBody>
      </p:sp>
      <p:sp>
        <p:nvSpPr>
          <p:cNvPr id="3" name="Shape 1"/>
          <p:cNvSpPr/>
          <p:nvPr/>
        </p:nvSpPr>
        <p:spPr>
          <a:xfrm>
            <a:off x="457200" y="1188720"/>
            <a:ext cx="4023360" cy="1325880"/>
          </a:xfrm>
          <a:prstGeom prst="roundRect">
            <a:avLst>
              <a:gd name="adj" fmla="val 8276"/>
            </a:avLst>
          </a:prstGeom>
          <a:solidFill>
            <a:srgbClr val="FFFFFF">
              <a:alpha val="12000"/>
            </a:srgbClr>
          </a:solidFill>
          <a:ln w="9525">
            <a:solidFill>
              <a:srgbClr val="FFFFFF">
                <a:alpha val="20000"/>
              </a:srgbClr>
            </a:solidFill>
            <a:prstDash val="solid"/>
          </a:ln>
        </p:spPr>
      </p:sp>
      <p:sp>
        <p:nvSpPr>
          <p:cNvPr id="4" name="Shape 2"/>
          <p:cNvSpPr/>
          <p:nvPr/>
        </p:nvSpPr>
        <p:spPr>
          <a:xfrm>
            <a:off x="621792" y="1353312"/>
            <a:ext cx="548640" cy="548640"/>
          </a:xfrm>
          <a:prstGeom prst="ellipse">
            <a:avLst/>
          </a:prstGeom>
          <a:solidFill>
            <a:srgbClr val="FFC24B"/>
          </a:solidFill>
          <a:ln w="12700">
            <a:solidFill>
              <a:srgbClr val="FFC24B"/>
            </a:solidFill>
            <a:prstDash val="solid"/>
          </a:ln>
        </p:spPr>
      </p:sp>
      <p:pic>
        <p:nvPicPr>
          <p:cNvPr id="5" name="Image 0" descr="preencoded.png">    </p:cNvPr>
          <p:cNvPicPr>
            <a:picLocks noChangeAspect="1"/>
          </p:cNvPicPr>
          <p:nvPr/>
        </p:nvPicPr>
        <p:blipFill>
          <a:blip r:embed="rId1"/>
          <a:stretch>
            <a:fillRect/>
          </a:stretch>
        </p:blipFill>
        <p:spPr>
          <a:xfrm>
            <a:off x="753466" y="1484986"/>
            <a:ext cx="285293" cy="285293"/>
          </a:xfrm>
          <a:prstGeom prst="rect">
            <a:avLst/>
          </a:prstGeom>
        </p:spPr>
      </p:pic>
      <p:sp>
        <p:nvSpPr>
          <p:cNvPr id="6" name="Text 3"/>
          <p:cNvSpPr txBox="1"/>
          <p:nvPr/>
        </p:nvSpPr>
        <p:spPr>
          <a:xfrm>
            <a:off x="1325880" y="1371600"/>
            <a:ext cx="30175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Quà tặng học sinh</a:t>
            </a:r>
            <a:endParaRPr lang="en-US" sz="1500" dirty="0"/>
          </a:p>
        </p:txBody>
      </p:sp>
      <p:sp>
        <p:nvSpPr>
          <p:cNvPr id="7" name="Text 4"/>
          <p:cNvSpPr txBox="1"/>
          <p:nvPr/>
        </p:nvSpPr>
        <p:spPr>
          <a:xfrm>
            <a:off x="1325880" y="1691640"/>
            <a:ext cx="3017520" cy="777240"/>
          </a:xfrm>
          <a:prstGeom prst="rect">
            <a:avLst/>
          </a:prstGeom>
          <a:noFill/>
          <a:ln/>
        </p:spPr>
        <p:txBody>
          <a:bodyPr wrap="square" lIns="0" tIns="0" rIns="0" bIns="0" rtlCol="0" anchor="t"/>
          <a:lstStyle/>
          <a:p>
            <a:pPr indent="0" marL="0">
              <a:buNone/>
            </a:pPr>
            <a:r>
              <a:rPr lang="en-US" sz="1200" dirty="0">
                <a:solidFill>
                  <a:srgbClr val="CFE6FF"/>
                </a:solidFill>
                <a:latin typeface="Calibri" pitchFamily="34" charset="0"/>
                <a:ea typeface="Calibri" pitchFamily="34" charset="-122"/>
                <a:cs typeface="Calibri" pitchFamily="34" charset="-120"/>
              </a:rPr>
              <a:t>10 phần quà hỏi đáp mỗi buổi. Gợi ý: quà lưu niệm thương hiệu, mô hình máy bay, voucher.</a:t>
            </a:r>
            <a:endParaRPr lang="en-US" sz="1200" dirty="0"/>
          </a:p>
        </p:txBody>
      </p:sp>
      <p:sp>
        <p:nvSpPr>
          <p:cNvPr id="8" name="Shape 5"/>
          <p:cNvSpPr/>
          <p:nvPr/>
        </p:nvSpPr>
        <p:spPr>
          <a:xfrm>
            <a:off x="4663440" y="1188720"/>
            <a:ext cx="4023360" cy="1325880"/>
          </a:xfrm>
          <a:prstGeom prst="roundRect">
            <a:avLst>
              <a:gd name="adj" fmla="val 8276"/>
            </a:avLst>
          </a:prstGeom>
          <a:solidFill>
            <a:srgbClr val="FFFFFF">
              <a:alpha val="12000"/>
            </a:srgbClr>
          </a:solidFill>
          <a:ln w="9525">
            <a:solidFill>
              <a:srgbClr val="FFFFFF">
                <a:alpha val="20000"/>
              </a:srgbClr>
            </a:solidFill>
            <a:prstDash val="solid"/>
          </a:ln>
        </p:spPr>
      </p:sp>
      <p:sp>
        <p:nvSpPr>
          <p:cNvPr id="9" name="Shape 6"/>
          <p:cNvSpPr/>
          <p:nvPr/>
        </p:nvSpPr>
        <p:spPr>
          <a:xfrm>
            <a:off x="4828032" y="1353312"/>
            <a:ext cx="548640" cy="548640"/>
          </a:xfrm>
          <a:prstGeom prst="ellipse">
            <a:avLst/>
          </a:prstGeom>
          <a:solidFill>
            <a:srgbClr val="FFC24B"/>
          </a:solidFill>
          <a:ln w="12700">
            <a:solidFill>
              <a:srgbClr val="FFC24B"/>
            </a:solidFill>
            <a:prstDash val="solid"/>
          </a:ln>
        </p:spPr>
      </p:sp>
      <p:pic>
        <p:nvPicPr>
          <p:cNvPr id="10" name="Image 1" descr="preencoded.png">    </p:cNvPr>
          <p:cNvPicPr>
            <a:picLocks noChangeAspect="1"/>
          </p:cNvPicPr>
          <p:nvPr/>
        </p:nvPicPr>
        <p:blipFill>
          <a:blip r:embed="rId2"/>
          <a:stretch>
            <a:fillRect/>
          </a:stretch>
        </p:blipFill>
        <p:spPr>
          <a:xfrm>
            <a:off x="4959706" y="1484986"/>
            <a:ext cx="285293" cy="285293"/>
          </a:xfrm>
          <a:prstGeom prst="rect">
            <a:avLst/>
          </a:prstGeom>
        </p:spPr>
      </p:pic>
      <p:sp>
        <p:nvSpPr>
          <p:cNvPr id="11" name="Text 7"/>
          <p:cNvSpPr txBox="1"/>
          <p:nvPr/>
        </p:nvSpPr>
        <p:spPr>
          <a:xfrm>
            <a:off x="5532120" y="1371600"/>
            <a:ext cx="30175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Hỗ trợ chuyên môn</a:t>
            </a:r>
            <a:endParaRPr lang="en-US" sz="1500" dirty="0"/>
          </a:p>
        </p:txBody>
      </p:sp>
      <p:sp>
        <p:nvSpPr>
          <p:cNvPr id="12" name="Text 8"/>
          <p:cNvSpPr txBox="1"/>
          <p:nvPr/>
        </p:nvSpPr>
        <p:spPr>
          <a:xfrm>
            <a:off x="5532120" y="1691640"/>
            <a:ext cx="3017520" cy="777240"/>
          </a:xfrm>
          <a:prstGeom prst="rect">
            <a:avLst/>
          </a:prstGeom>
          <a:noFill/>
          <a:ln/>
        </p:spPr>
        <p:txBody>
          <a:bodyPr wrap="square" lIns="0" tIns="0" rIns="0" bIns="0" rtlCol="0" anchor="t"/>
          <a:lstStyle/>
          <a:p>
            <a:pPr indent="0" marL="0">
              <a:buNone/>
            </a:pPr>
            <a:r>
              <a:rPr lang="en-US" sz="1200" dirty="0">
                <a:solidFill>
                  <a:srgbClr val="CFE6FF"/>
                </a:solidFill>
                <a:latin typeface="Calibri" pitchFamily="34" charset="0"/>
                <a:ea typeface="Calibri" pitchFamily="34" charset="-122"/>
                <a:cs typeface="Calibri" pitchFamily="34" charset="-120"/>
              </a:rPr>
              <a:t>Cử đại diện chia sẻ về an toàn bay (phi công, nhân viên an toàn hoặc khai thác).</a:t>
            </a:r>
            <a:endParaRPr lang="en-US" sz="1200" dirty="0"/>
          </a:p>
        </p:txBody>
      </p:sp>
      <p:sp>
        <p:nvSpPr>
          <p:cNvPr id="13" name="Shape 9"/>
          <p:cNvSpPr/>
          <p:nvPr/>
        </p:nvSpPr>
        <p:spPr>
          <a:xfrm>
            <a:off x="457200" y="2651760"/>
            <a:ext cx="4023360" cy="1325880"/>
          </a:xfrm>
          <a:prstGeom prst="roundRect">
            <a:avLst>
              <a:gd name="adj" fmla="val 8276"/>
            </a:avLst>
          </a:prstGeom>
          <a:solidFill>
            <a:srgbClr val="FFFFFF">
              <a:alpha val="12000"/>
            </a:srgbClr>
          </a:solidFill>
          <a:ln w="9525">
            <a:solidFill>
              <a:srgbClr val="FFFFFF">
                <a:alpha val="20000"/>
              </a:srgbClr>
            </a:solidFill>
            <a:prstDash val="solid"/>
          </a:ln>
        </p:spPr>
      </p:sp>
      <p:sp>
        <p:nvSpPr>
          <p:cNvPr id="14" name="Shape 10"/>
          <p:cNvSpPr/>
          <p:nvPr/>
        </p:nvSpPr>
        <p:spPr>
          <a:xfrm>
            <a:off x="621792" y="2816352"/>
            <a:ext cx="548640" cy="548640"/>
          </a:xfrm>
          <a:prstGeom prst="ellipse">
            <a:avLst/>
          </a:prstGeom>
          <a:solidFill>
            <a:srgbClr val="FFC24B"/>
          </a:solidFill>
          <a:ln w="12700">
            <a:solidFill>
              <a:srgbClr val="FFC24B"/>
            </a:solidFill>
            <a:prstDash val="solid"/>
          </a:ln>
        </p:spPr>
      </p:sp>
      <p:pic>
        <p:nvPicPr>
          <p:cNvPr id="15" name="Image 2" descr="preencoded.png">    </p:cNvPr>
          <p:cNvPicPr>
            <a:picLocks noChangeAspect="1"/>
          </p:cNvPicPr>
          <p:nvPr/>
        </p:nvPicPr>
        <p:blipFill>
          <a:blip r:embed="rId3"/>
          <a:stretch>
            <a:fillRect/>
          </a:stretch>
        </p:blipFill>
        <p:spPr>
          <a:xfrm>
            <a:off x="753466" y="2948026"/>
            <a:ext cx="285293" cy="285293"/>
          </a:xfrm>
          <a:prstGeom prst="rect">
            <a:avLst/>
          </a:prstGeom>
        </p:spPr>
      </p:pic>
      <p:sp>
        <p:nvSpPr>
          <p:cNvPr id="16" name="Text 11"/>
          <p:cNvSpPr txBox="1"/>
          <p:nvPr/>
        </p:nvSpPr>
        <p:spPr>
          <a:xfrm>
            <a:off x="1325880" y="2834640"/>
            <a:ext cx="30175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Truyền thông</a:t>
            </a:r>
            <a:endParaRPr lang="en-US" sz="1500" dirty="0"/>
          </a:p>
        </p:txBody>
      </p:sp>
      <p:sp>
        <p:nvSpPr>
          <p:cNvPr id="17" name="Text 12"/>
          <p:cNvSpPr txBox="1"/>
          <p:nvPr/>
        </p:nvSpPr>
        <p:spPr>
          <a:xfrm>
            <a:off x="1325880" y="3154680"/>
            <a:ext cx="3017520" cy="777240"/>
          </a:xfrm>
          <a:prstGeom prst="rect">
            <a:avLst/>
          </a:prstGeom>
          <a:noFill/>
          <a:ln/>
        </p:spPr>
        <p:txBody>
          <a:bodyPr wrap="square" lIns="0" tIns="0" rIns="0" bIns="0" rtlCol="0" anchor="t"/>
          <a:lstStyle/>
          <a:p>
            <a:pPr indent="0" marL="0">
              <a:buNone/>
            </a:pPr>
            <a:r>
              <a:rPr lang="en-US" sz="1200" dirty="0">
                <a:solidFill>
                  <a:srgbClr val="CFE6FF"/>
                </a:solidFill>
                <a:latin typeface="Calibri" pitchFamily="34" charset="0"/>
                <a:ea typeface="Calibri" pitchFamily="34" charset="-122"/>
                <a:cs typeface="Calibri" pitchFamily="34" charset="-120"/>
              </a:rPr>
              <a:t>Đồng hành logo trên backdrop và ấn phẩm; chia sẻ hình ảnh chương trình trên kênh của hãng.</a:t>
            </a:r>
            <a:endParaRPr lang="en-US" sz="1200" dirty="0"/>
          </a:p>
        </p:txBody>
      </p:sp>
      <p:sp>
        <p:nvSpPr>
          <p:cNvPr id="18" name="Shape 13"/>
          <p:cNvSpPr/>
          <p:nvPr/>
        </p:nvSpPr>
        <p:spPr>
          <a:xfrm>
            <a:off x="4663440" y="2651760"/>
            <a:ext cx="4023360" cy="1325880"/>
          </a:xfrm>
          <a:prstGeom prst="roundRect">
            <a:avLst>
              <a:gd name="adj" fmla="val 8276"/>
            </a:avLst>
          </a:prstGeom>
          <a:solidFill>
            <a:srgbClr val="FFFFFF">
              <a:alpha val="12000"/>
            </a:srgbClr>
          </a:solidFill>
          <a:ln w="9525">
            <a:solidFill>
              <a:srgbClr val="FFFFFF">
                <a:alpha val="20000"/>
              </a:srgbClr>
            </a:solidFill>
            <a:prstDash val="solid"/>
          </a:ln>
        </p:spPr>
      </p:sp>
      <p:sp>
        <p:nvSpPr>
          <p:cNvPr id="19" name="Shape 14"/>
          <p:cNvSpPr/>
          <p:nvPr/>
        </p:nvSpPr>
        <p:spPr>
          <a:xfrm>
            <a:off x="4828032" y="2816352"/>
            <a:ext cx="548640" cy="548640"/>
          </a:xfrm>
          <a:prstGeom prst="ellipse">
            <a:avLst/>
          </a:prstGeom>
          <a:solidFill>
            <a:srgbClr val="FFC24B"/>
          </a:solidFill>
          <a:ln w="12700">
            <a:solidFill>
              <a:srgbClr val="FFC24B"/>
            </a:solidFill>
            <a:prstDash val="solid"/>
          </a:ln>
        </p:spPr>
      </p:sp>
      <p:pic>
        <p:nvPicPr>
          <p:cNvPr id="20" name="Image 3" descr="preencoded.png">    </p:cNvPr>
          <p:cNvPicPr>
            <a:picLocks noChangeAspect="1"/>
          </p:cNvPicPr>
          <p:nvPr/>
        </p:nvPicPr>
        <p:blipFill>
          <a:blip r:embed="rId4"/>
          <a:stretch>
            <a:fillRect/>
          </a:stretch>
        </p:blipFill>
        <p:spPr>
          <a:xfrm>
            <a:off x="4959706" y="2948026"/>
            <a:ext cx="285293" cy="285293"/>
          </a:xfrm>
          <a:prstGeom prst="rect">
            <a:avLst/>
          </a:prstGeom>
        </p:spPr>
      </p:pic>
      <p:sp>
        <p:nvSpPr>
          <p:cNvPr id="21" name="Text 15"/>
          <p:cNvSpPr txBox="1"/>
          <p:nvPr/>
        </p:nvSpPr>
        <p:spPr>
          <a:xfrm>
            <a:off x="5532120" y="2834640"/>
            <a:ext cx="30175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Kinh phí</a:t>
            </a:r>
            <a:endParaRPr lang="en-US" sz="1500" dirty="0"/>
          </a:p>
        </p:txBody>
      </p:sp>
      <p:sp>
        <p:nvSpPr>
          <p:cNvPr id="22" name="Text 16"/>
          <p:cNvSpPr txBox="1"/>
          <p:nvPr/>
        </p:nvSpPr>
        <p:spPr>
          <a:xfrm>
            <a:off x="5532120" y="3154680"/>
            <a:ext cx="3017520" cy="777240"/>
          </a:xfrm>
          <a:prstGeom prst="rect">
            <a:avLst/>
          </a:prstGeom>
          <a:noFill/>
          <a:ln/>
        </p:spPr>
        <p:txBody>
          <a:bodyPr wrap="square" lIns="0" tIns="0" rIns="0" bIns="0" rtlCol="0" anchor="t"/>
          <a:lstStyle/>
          <a:p>
            <a:pPr indent="0" marL="0">
              <a:buNone/>
            </a:pPr>
            <a:r>
              <a:rPr lang="en-US" sz="1200" dirty="0">
                <a:solidFill>
                  <a:srgbClr val="CFE6FF"/>
                </a:solidFill>
                <a:latin typeface="Calibri" pitchFamily="34" charset="0"/>
                <a:ea typeface="Calibri" pitchFamily="34" charset="-122"/>
                <a:cs typeface="Calibri" pitchFamily="34" charset="-120"/>
              </a:rPr>
              <a:t>Hỗ trợ một phần chi phí tổ chức, quà tặng, ấn phẩm; phần còn lại do BVOT bảo đảm. Nhà trường và học sinh không phải chi trả.</a:t>
            </a:r>
            <a:endParaRPr lang="en-US" sz="1200" dirty="0"/>
          </a:p>
        </p:txBody>
      </p:sp>
      <p:sp>
        <p:nvSpPr>
          <p:cNvPr id="23" name="Shape 17"/>
          <p:cNvSpPr/>
          <p:nvPr/>
        </p:nvSpPr>
        <p:spPr>
          <a:xfrm>
            <a:off x="457200" y="4160520"/>
            <a:ext cx="8229600" cy="548640"/>
          </a:xfrm>
          <a:prstGeom prst="roundRect">
            <a:avLst>
              <a:gd name="adj" fmla="val 20000"/>
            </a:avLst>
          </a:prstGeom>
          <a:solidFill>
            <a:srgbClr val="FFFFFF">
              <a:alpha val="12000"/>
            </a:srgbClr>
          </a:solidFill>
          <a:ln w="9525">
            <a:solidFill>
              <a:srgbClr val="FFFFFF">
                <a:alpha val="20000"/>
              </a:srgbClr>
            </a:solidFill>
            <a:prstDash val="solid"/>
          </a:ln>
        </p:spPr>
      </p:sp>
      <p:sp>
        <p:nvSpPr>
          <p:cNvPr id="24" name="Text 18"/>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Chia gói theo từng địa phương hoặc trọn gói 10 sân bay  ·  Không bán hàng, không thu thập thông tin cá nhân học sinh  ·  Nhà trường duyệt nội dung và hình ảnh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4DA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Truyền thông lan tỏa</a:t>
            </a:r>
            <a:endParaRPr lang="en-US" sz="3000" dirty="0"/>
          </a:p>
        </p:txBody>
      </p:sp>
      <p:sp>
        <p:nvSpPr>
          <p:cNvPr id="3" name="Shape 1"/>
          <p:cNvSpPr/>
          <p:nvPr/>
        </p:nvSpPr>
        <p:spPr>
          <a:xfrm>
            <a:off x="457200" y="1188720"/>
            <a:ext cx="3200400" cy="2743200"/>
          </a:xfrm>
          <a:prstGeom prst="roundRect">
            <a:avLst>
              <a:gd name="adj" fmla="val 4000"/>
            </a:avLst>
          </a:prstGeom>
          <a:solidFill>
            <a:srgbClr val="FFFFFF">
              <a:alpha val="12000"/>
            </a:srgbClr>
          </a:solidFill>
          <a:ln w="9525">
            <a:solidFill>
              <a:srgbClr val="FFFFFF">
                <a:alpha val="20000"/>
              </a:srgbClr>
            </a:solidFill>
            <a:prstDash val="solid"/>
          </a:ln>
        </p:spPr>
      </p:sp>
      <p:sp>
        <p:nvSpPr>
          <p:cNvPr id="4" name="Text 2"/>
          <p:cNvSpPr txBox="1"/>
          <p:nvPr/>
        </p:nvSpPr>
        <p:spPr>
          <a:xfrm>
            <a:off x="640080" y="1325880"/>
            <a:ext cx="2834640" cy="274320"/>
          </a:xfrm>
          <a:prstGeom prst="rect">
            <a:avLst/>
          </a:prstGeom>
          <a:noFill/>
          <a:ln/>
        </p:spPr>
        <p:txBody>
          <a:bodyPr wrap="square" lIns="0" tIns="0" rIns="0" bIns="0" rtlCol="0" anchor="t"/>
          <a:lstStyle/>
          <a:p>
            <a:pPr indent="0" marL="0">
              <a:buNone/>
            </a:pPr>
            <a:r>
              <a:rPr lang="en-US" sz="1200" b="1" spc="200" kern="0" dirty="0">
                <a:solidFill>
                  <a:srgbClr val="FFC24B"/>
                </a:solidFill>
                <a:latin typeface="Calibri" pitchFamily="34" charset="0"/>
                <a:ea typeface="Calibri" pitchFamily="34" charset="-122"/>
                <a:cs typeface="Calibri" pitchFamily="34" charset="-120"/>
              </a:rPr>
              <a:t>MỤC TIÊU 12 THÁNG</a:t>
            </a:r>
            <a:endParaRPr lang="en-US" sz="1200" dirty="0"/>
          </a:p>
        </p:txBody>
      </p:sp>
      <p:sp>
        <p:nvSpPr>
          <p:cNvPr id="5" name="Text 3"/>
          <p:cNvSpPr txBox="1"/>
          <p:nvPr/>
        </p:nvSpPr>
        <p:spPr>
          <a:xfrm>
            <a:off x="640080" y="1783080"/>
            <a:ext cx="2834640" cy="822960"/>
          </a:xfrm>
          <a:prstGeom prst="rect">
            <a:avLst/>
          </a:prstGeom>
          <a:noFill/>
          <a:ln/>
        </p:spPr>
        <p:txBody>
          <a:bodyPr wrap="square" lIns="0" tIns="0" rIns="0" bIns="0" rtlCol="0" anchor="t"/>
          <a:lstStyle/>
          <a:p>
            <a:pPr indent="0" marL="0">
              <a:buNone/>
            </a:pPr>
            <a:r>
              <a:rPr lang="en-US" sz="4600" b="1" dirty="0">
                <a:solidFill>
                  <a:srgbClr val="FFC24B"/>
                </a:solidFill>
                <a:latin typeface="Cambria" pitchFamily="34" charset="0"/>
                <a:ea typeface="Cambria" pitchFamily="34" charset="-122"/>
                <a:cs typeface="Cambria" pitchFamily="34" charset="-120"/>
              </a:rPr>
              <a:t>30 triệu</a:t>
            </a:r>
            <a:endParaRPr lang="en-US" sz="4600" dirty="0"/>
          </a:p>
        </p:txBody>
      </p:sp>
      <p:sp>
        <p:nvSpPr>
          <p:cNvPr id="6" name="Text 4"/>
          <p:cNvSpPr txBox="1"/>
          <p:nvPr/>
        </p:nvSpPr>
        <p:spPr>
          <a:xfrm>
            <a:off x="640080" y="2697480"/>
            <a:ext cx="283464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lượt tiếp cận qua truyền hình, báo chí và mạng xã hội</a:t>
            </a:r>
            <a:endParaRPr lang="en-US" sz="1500" dirty="0"/>
          </a:p>
        </p:txBody>
      </p:sp>
      <p:sp>
        <p:nvSpPr>
          <p:cNvPr id="7" name="Shape 5"/>
          <p:cNvSpPr/>
          <p:nvPr/>
        </p:nvSpPr>
        <p:spPr>
          <a:xfrm>
            <a:off x="3886200" y="1188720"/>
            <a:ext cx="4800600" cy="850392"/>
          </a:xfrm>
          <a:prstGeom prst="roundRect">
            <a:avLst>
              <a:gd name="adj" fmla="val 12903"/>
            </a:avLst>
          </a:prstGeom>
          <a:solidFill>
            <a:srgbClr val="FFFFFF">
              <a:alpha val="12000"/>
            </a:srgbClr>
          </a:solidFill>
          <a:ln w="9525">
            <a:solidFill>
              <a:srgbClr val="FFFFFF">
                <a:alpha val="20000"/>
              </a:srgbClr>
            </a:solidFill>
            <a:prstDash val="solid"/>
          </a:ln>
        </p:spPr>
      </p:sp>
      <p:sp>
        <p:nvSpPr>
          <p:cNvPr id="8" name="Shape 6"/>
          <p:cNvSpPr/>
          <p:nvPr/>
        </p:nvSpPr>
        <p:spPr>
          <a:xfrm>
            <a:off x="4023360" y="1344168"/>
            <a:ext cx="530352" cy="530352"/>
          </a:xfrm>
          <a:prstGeom prst="ellipse">
            <a:avLst/>
          </a:prstGeom>
          <a:solidFill>
            <a:srgbClr val="FFC24B"/>
          </a:solidFill>
          <a:ln w="12700">
            <a:solidFill>
              <a:srgbClr val="FFC24B"/>
            </a:solidFill>
            <a:prstDash val="solid"/>
          </a:ln>
        </p:spPr>
      </p:sp>
      <p:pic>
        <p:nvPicPr>
          <p:cNvPr id="9" name="Image 0" descr="preencoded.png">    </p:cNvPr>
          <p:cNvPicPr>
            <a:picLocks noChangeAspect="1"/>
          </p:cNvPicPr>
          <p:nvPr/>
        </p:nvPicPr>
        <p:blipFill>
          <a:blip r:embed="rId1"/>
          <a:stretch>
            <a:fillRect/>
          </a:stretch>
        </p:blipFill>
        <p:spPr>
          <a:xfrm>
            <a:off x="4150644" y="1471452"/>
            <a:ext cx="275783" cy="275783"/>
          </a:xfrm>
          <a:prstGeom prst="rect">
            <a:avLst/>
          </a:prstGeom>
        </p:spPr>
      </p:pic>
      <p:sp>
        <p:nvSpPr>
          <p:cNvPr id="10" name="Text 7"/>
          <p:cNvSpPr txBox="1"/>
          <p:nvPr/>
        </p:nvSpPr>
        <p:spPr>
          <a:xfrm>
            <a:off x="4709160" y="1280160"/>
            <a:ext cx="384048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Truyền hình</a:t>
            </a:r>
            <a:endParaRPr lang="en-US" sz="1500" dirty="0"/>
          </a:p>
        </p:txBody>
      </p:sp>
      <p:sp>
        <p:nvSpPr>
          <p:cNvPr id="11" name="Text 8"/>
          <p:cNvSpPr txBox="1"/>
          <p:nvPr/>
        </p:nvSpPr>
        <p:spPr>
          <a:xfrm>
            <a:off x="4709160" y="1572768"/>
            <a:ext cx="3840480" cy="43891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Bản tin, phóng sự về chương trình trên đài trung ương và địa phương</a:t>
            </a:r>
            <a:endParaRPr lang="en-US" sz="1150" dirty="0"/>
          </a:p>
        </p:txBody>
      </p:sp>
      <p:sp>
        <p:nvSpPr>
          <p:cNvPr id="12" name="Shape 9"/>
          <p:cNvSpPr/>
          <p:nvPr/>
        </p:nvSpPr>
        <p:spPr>
          <a:xfrm>
            <a:off x="3886200" y="2130552"/>
            <a:ext cx="4800600" cy="850392"/>
          </a:xfrm>
          <a:prstGeom prst="roundRect">
            <a:avLst>
              <a:gd name="adj" fmla="val 12903"/>
            </a:avLst>
          </a:prstGeom>
          <a:solidFill>
            <a:srgbClr val="FFFFFF">
              <a:alpha val="12000"/>
            </a:srgbClr>
          </a:solidFill>
          <a:ln w="9525">
            <a:solidFill>
              <a:srgbClr val="FFFFFF">
                <a:alpha val="20000"/>
              </a:srgbClr>
            </a:solidFill>
            <a:prstDash val="solid"/>
          </a:ln>
        </p:spPr>
      </p:sp>
      <p:sp>
        <p:nvSpPr>
          <p:cNvPr id="13" name="Shape 10"/>
          <p:cNvSpPr/>
          <p:nvPr/>
        </p:nvSpPr>
        <p:spPr>
          <a:xfrm>
            <a:off x="4023360" y="2286000"/>
            <a:ext cx="530352" cy="530352"/>
          </a:xfrm>
          <a:prstGeom prst="ellipse">
            <a:avLst/>
          </a:prstGeom>
          <a:solidFill>
            <a:srgbClr val="FFC24B"/>
          </a:solidFill>
          <a:ln w="12700">
            <a:solidFill>
              <a:srgbClr val="FFC24B"/>
            </a:solidFill>
            <a:prstDash val="solid"/>
          </a:ln>
        </p:spPr>
      </p:sp>
      <p:pic>
        <p:nvPicPr>
          <p:cNvPr id="14" name="Image 1" descr="preencoded.png">    </p:cNvPr>
          <p:cNvPicPr>
            <a:picLocks noChangeAspect="1"/>
          </p:cNvPicPr>
          <p:nvPr/>
        </p:nvPicPr>
        <p:blipFill>
          <a:blip r:embed="rId2"/>
          <a:stretch>
            <a:fillRect/>
          </a:stretch>
        </p:blipFill>
        <p:spPr>
          <a:xfrm>
            <a:off x="4150644" y="2413284"/>
            <a:ext cx="275783" cy="275783"/>
          </a:xfrm>
          <a:prstGeom prst="rect">
            <a:avLst/>
          </a:prstGeom>
        </p:spPr>
      </p:pic>
      <p:sp>
        <p:nvSpPr>
          <p:cNvPr id="15" name="Text 11"/>
          <p:cNvSpPr txBox="1"/>
          <p:nvPr/>
        </p:nvSpPr>
        <p:spPr>
          <a:xfrm>
            <a:off x="4709160" y="2221992"/>
            <a:ext cx="384048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Báo chí</a:t>
            </a:r>
            <a:endParaRPr lang="en-US" sz="1500" dirty="0"/>
          </a:p>
        </p:txBody>
      </p:sp>
      <p:sp>
        <p:nvSpPr>
          <p:cNvPr id="16" name="Text 12"/>
          <p:cNvSpPr txBox="1"/>
          <p:nvPr/>
        </p:nvSpPr>
        <p:spPr>
          <a:xfrm>
            <a:off x="4709160" y="2514600"/>
            <a:ext cx="3840480" cy="43891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Báo điện tử, báo in đưa tin từng buổi và tổng kết</a:t>
            </a:r>
            <a:endParaRPr lang="en-US" sz="1150" dirty="0"/>
          </a:p>
        </p:txBody>
      </p:sp>
      <p:sp>
        <p:nvSpPr>
          <p:cNvPr id="17" name="Shape 13"/>
          <p:cNvSpPr/>
          <p:nvPr/>
        </p:nvSpPr>
        <p:spPr>
          <a:xfrm>
            <a:off x="3886200" y="3072384"/>
            <a:ext cx="4800600" cy="850392"/>
          </a:xfrm>
          <a:prstGeom prst="roundRect">
            <a:avLst>
              <a:gd name="adj" fmla="val 12903"/>
            </a:avLst>
          </a:prstGeom>
          <a:solidFill>
            <a:srgbClr val="FFFFFF">
              <a:alpha val="12000"/>
            </a:srgbClr>
          </a:solidFill>
          <a:ln w="9525">
            <a:solidFill>
              <a:srgbClr val="FFFFFF">
                <a:alpha val="20000"/>
              </a:srgbClr>
            </a:solidFill>
            <a:prstDash val="solid"/>
          </a:ln>
        </p:spPr>
      </p:sp>
      <p:sp>
        <p:nvSpPr>
          <p:cNvPr id="18" name="Shape 14"/>
          <p:cNvSpPr/>
          <p:nvPr/>
        </p:nvSpPr>
        <p:spPr>
          <a:xfrm>
            <a:off x="4023360" y="3227832"/>
            <a:ext cx="530352" cy="530352"/>
          </a:xfrm>
          <a:prstGeom prst="ellipse">
            <a:avLst/>
          </a:prstGeom>
          <a:solidFill>
            <a:srgbClr val="FFC24B"/>
          </a:solidFill>
          <a:ln w="12700">
            <a:solidFill>
              <a:srgbClr val="FFC24B"/>
            </a:solidFill>
            <a:prstDash val="solid"/>
          </a:ln>
        </p:spPr>
      </p:sp>
      <p:pic>
        <p:nvPicPr>
          <p:cNvPr id="19" name="Image 2" descr="preencoded.png">    </p:cNvPr>
          <p:cNvPicPr>
            <a:picLocks noChangeAspect="1"/>
          </p:cNvPicPr>
          <p:nvPr/>
        </p:nvPicPr>
        <p:blipFill>
          <a:blip r:embed="rId3"/>
          <a:stretch>
            <a:fillRect/>
          </a:stretch>
        </p:blipFill>
        <p:spPr>
          <a:xfrm>
            <a:off x="4150644" y="3355116"/>
            <a:ext cx="275783" cy="275783"/>
          </a:xfrm>
          <a:prstGeom prst="rect">
            <a:avLst/>
          </a:prstGeom>
        </p:spPr>
      </p:pic>
      <p:sp>
        <p:nvSpPr>
          <p:cNvPr id="20" name="Text 15"/>
          <p:cNvSpPr txBox="1"/>
          <p:nvPr/>
        </p:nvSpPr>
        <p:spPr>
          <a:xfrm>
            <a:off x="4709160" y="3163824"/>
            <a:ext cx="384048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Mạng xã hội</a:t>
            </a:r>
            <a:endParaRPr lang="en-US" sz="1500" dirty="0"/>
          </a:p>
        </p:txBody>
      </p:sp>
      <p:sp>
        <p:nvSpPr>
          <p:cNvPr id="21" name="Text 16"/>
          <p:cNvSpPr txBox="1"/>
          <p:nvPr/>
        </p:nvSpPr>
        <p:spPr>
          <a:xfrm>
            <a:off x="4709160" y="3456432"/>
            <a:ext cx="3840480" cy="438912"/>
          </a:xfrm>
          <a:prstGeom prst="rect">
            <a:avLst/>
          </a:prstGeom>
          <a:noFill/>
          <a:ln/>
        </p:spPr>
        <p:txBody>
          <a:bodyPr wrap="square" lIns="0" tIns="0" rIns="0" bIns="0" rtlCol="0" anchor="t"/>
          <a:lstStyle/>
          <a:p>
            <a:pPr indent="0" marL="0">
              <a:buNone/>
            </a:pPr>
            <a:r>
              <a:rPr lang="en-US" sz="1150" dirty="0">
                <a:solidFill>
                  <a:srgbClr val="CFE6FF"/>
                </a:solidFill>
                <a:latin typeface="Calibri" pitchFamily="34" charset="0"/>
                <a:ea typeface="Calibri" pitchFamily="34" charset="-122"/>
                <a:cs typeface="Calibri" pitchFamily="34" charset="-120"/>
              </a:rPr>
              <a:t>TikTok, Facebook, YouTube Shorts; fanpage của BVOT, Nhà trường, cơ quan phối hợp và nhà tài trợ</a:t>
            </a:r>
            <a:endParaRPr lang="en-US" sz="1150" dirty="0"/>
          </a:p>
        </p:txBody>
      </p:sp>
      <p:sp>
        <p:nvSpPr>
          <p:cNvPr id="22" name="Text 17"/>
          <p:cNvSpPr txBox="1"/>
          <p:nvPr/>
        </p:nvSpPr>
        <p:spPr>
          <a:xfrm>
            <a:off x="457200" y="4114800"/>
            <a:ext cx="8229600" cy="594360"/>
          </a:xfrm>
          <a:prstGeom prst="rect">
            <a:avLst/>
          </a:prstGeom>
          <a:noFill/>
          <a:ln/>
        </p:spPr>
        <p:txBody>
          <a:bodyPr wrap="square" lIns="0" tIns="0" rIns="0" bIns="0" rtlCol="0" anchor="t"/>
          <a:lstStyle/>
          <a:p>
            <a:pPr indent="0" marL="0">
              <a:buNone/>
            </a:pPr>
            <a:r>
              <a:rPr lang="en-US" sz="1200" dirty="0">
                <a:solidFill>
                  <a:srgbClr val="CFE6FF"/>
                </a:solidFill>
                <a:latin typeface="Calibri" pitchFamily="34" charset="0"/>
                <a:ea typeface="Calibri" pitchFamily="34" charset="-122"/>
                <a:cs typeface="Calibri" pitchFamily="34" charset="-120"/>
              </a:rPr>
              <a:t>Nội dung: phóng sự ngắn, video ghi hình từ các buổi, “5 điều học sinh cần nhớ”; tôn vinh nhà tài trợ và cơ quan đồng hành. Chỉ đăng hình ảnh học sinh khi có đồng ý của Nhà trường và của từng học sinh.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4DA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Lợi ích mang lại</a:t>
            </a:r>
            <a:endParaRPr lang="en-US" sz="3000" dirty="0"/>
          </a:p>
        </p:txBody>
      </p:sp>
      <p:sp>
        <p:nvSpPr>
          <p:cNvPr id="3" name="Shape 1"/>
          <p:cNvSpPr/>
          <p:nvPr/>
        </p:nvSpPr>
        <p:spPr>
          <a:xfrm>
            <a:off x="457200" y="1188720"/>
            <a:ext cx="4754880" cy="3520440"/>
          </a:xfrm>
          <a:prstGeom prst="roundRect">
            <a:avLst>
              <a:gd name="adj" fmla="val 3117"/>
            </a:avLst>
          </a:prstGeom>
          <a:solidFill>
            <a:srgbClr val="FFFFFF">
              <a:alpha val="12000"/>
            </a:srgbClr>
          </a:solidFill>
          <a:ln w="9525">
            <a:solidFill>
              <a:srgbClr val="FFFFFF">
                <a:alpha val="20000"/>
              </a:srgbClr>
            </a:solidFill>
            <a:prstDash val="solid"/>
          </a:ln>
        </p:spPr>
      </p:sp>
      <p:sp>
        <p:nvSpPr>
          <p:cNvPr id="4" name="Shape 2"/>
          <p:cNvSpPr/>
          <p:nvPr/>
        </p:nvSpPr>
        <p:spPr>
          <a:xfrm>
            <a:off x="640080" y="1325880"/>
            <a:ext cx="502920" cy="502920"/>
          </a:xfrm>
          <a:prstGeom prst="ellipse">
            <a:avLst/>
          </a:prstGeom>
          <a:solidFill>
            <a:srgbClr val="FFC24B"/>
          </a:solidFill>
          <a:ln w="12700">
            <a:solidFill>
              <a:srgbClr val="FFC24B"/>
            </a:solidFill>
            <a:prstDash val="solid"/>
          </a:ln>
        </p:spPr>
      </p:sp>
      <p:pic>
        <p:nvPicPr>
          <p:cNvPr id="5" name="Image 0" descr="preencoded.png">    </p:cNvPr>
          <p:cNvPicPr>
            <a:picLocks noChangeAspect="1"/>
          </p:cNvPicPr>
          <p:nvPr/>
        </p:nvPicPr>
        <p:blipFill>
          <a:blip r:embed="rId1"/>
          <a:stretch>
            <a:fillRect/>
          </a:stretch>
        </p:blipFill>
        <p:spPr>
          <a:xfrm>
            <a:off x="760781" y="1446581"/>
            <a:ext cx="261518" cy="261518"/>
          </a:xfrm>
          <a:prstGeom prst="rect">
            <a:avLst/>
          </a:prstGeom>
        </p:spPr>
      </p:pic>
      <p:sp>
        <p:nvSpPr>
          <p:cNvPr id="6" name="Text 3"/>
          <p:cNvSpPr txBox="1"/>
          <p:nvPr/>
        </p:nvSpPr>
        <p:spPr>
          <a:xfrm>
            <a:off x="1280160" y="1371600"/>
            <a:ext cx="3749040" cy="411480"/>
          </a:xfrm>
          <a:prstGeom prst="rect">
            <a:avLst/>
          </a:prstGeom>
          <a:noFill/>
          <a:ln/>
        </p:spPr>
        <p:txBody>
          <a:bodyPr wrap="square" lIns="0" tIns="0" rIns="0" bIns="0" rtlCol="0" anchor="ctr"/>
          <a:lstStyle/>
          <a:p>
            <a:pPr indent="0" marL="0">
              <a:buNone/>
            </a:pPr>
            <a:r>
              <a:rPr lang="en-US" sz="1800" b="1" dirty="0">
                <a:solidFill>
                  <a:srgbClr val="FFC24B"/>
                </a:solidFill>
                <a:latin typeface="Calibri" pitchFamily="34" charset="0"/>
                <a:ea typeface="Calibri" pitchFamily="34" charset="-122"/>
                <a:cs typeface="Calibri" pitchFamily="34" charset="-120"/>
              </a:rPr>
              <a:t>Cho hãng hàng không</a:t>
            </a:r>
            <a:endParaRPr lang="en-US" sz="1800" dirty="0"/>
          </a:p>
        </p:txBody>
      </p:sp>
      <p:sp>
        <p:nvSpPr>
          <p:cNvPr id="7" name="Text 4"/>
          <p:cNvSpPr txBox="1"/>
          <p:nvPr/>
        </p:nvSpPr>
        <p:spPr>
          <a:xfrm>
            <a:off x="685800" y="2011680"/>
            <a:ext cx="4343400" cy="26060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Gắn thương hiệu với an toàn bay và trách nhiệm xã hội (ESG) trên quy mô toàn quốc</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Tiếp cận 50.000 học sinh, sinh viên – thế hệ hành khách tương lai – cùng gia đình, cộng đồng quanh 10 sân bay</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Hiện diện trong chiến dịch truyền thông 30 triệu lượt cùng cơ quan chức năng</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Góp phần giảm rủi ro từ diều, flycam, laser ảnh hưởng đến chuyến bay</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Đồng hành cùng chủ trương của Bộ Xây dựng</a:t>
            </a:r>
            <a:endParaRPr lang="en-US" sz="1350" dirty="0"/>
          </a:p>
        </p:txBody>
      </p:sp>
      <p:sp>
        <p:nvSpPr>
          <p:cNvPr id="8" name="Shape 5"/>
          <p:cNvSpPr/>
          <p:nvPr/>
        </p:nvSpPr>
        <p:spPr>
          <a:xfrm>
            <a:off x="5394960" y="1188720"/>
            <a:ext cx="3291840" cy="3520440"/>
          </a:xfrm>
          <a:prstGeom prst="roundRect">
            <a:avLst>
              <a:gd name="adj" fmla="val 3333"/>
            </a:avLst>
          </a:prstGeom>
          <a:solidFill>
            <a:srgbClr val="FFFFFF">
              <a:alpha val="12000"/>
            </a:srgbClr>
          </a:solidFill>
          <a:ln w="9525">
            <a:solidFill>
              <a:srgbClr val="FFFFFF">
                <a:alpha val="20000"/>
              </a:srgbClr>
            </a:solidFill>
            <a:prstDash val="solid"/>
          </a:ln>
        </p:spPr>
      </p:sp>
      <p:sp>
        <p:nvSpPr>
          <p:cNvPr id="9" name="Shape 6"/>
          <p:cNvSpPr/>
          <p:nvPr/>
        </p:nvSpPr>
        <p:spPr>
          <a:xfrm>
            <a:off x="5577840" y="1325880"/>
            <a:ext cx="502920" cy="502920"/>
          </a:xfrm>
          <a:prstGeom prst="ellipse">
            <a:avLst/>
          </a:prstGeom>
          <a:solidFill>
            <a:srgbClr val="FFC24B"/>
          </a:solidFill>
          <a:ln w="12700">
            <a:solidFill>
              <a:srgbClr val="FFC24B"/>
            </a:solidFill>
            <a:prstDash val="solid"/>
          </a:ln>
        </p:spPr>
      </p:sp>
      <p:pic>
        <p:nvPicPr>
          <p:cNvPr id="10" name="Image 1" descr="preencoded.png">    </p:cNvPr>
          <p:cNvPicPr>
            <a:picLocks noChangeAspect="1"/>
          </p:cNvPicPr>
          <p:nvPr/>
        </p:nvPicPr>
        <p:blipFill>
          <a:blip r:embed="rId2"/>
          <a:stretch>
            <a:fillRect/>
          </a:stretch>
        </p:blipFill>
        <p:spPr>
          <a:xfrm>
            <a:off x="5698541" y="1446581"/>
            <a:ext cx="261518" cy="261518"/>
          </a:xfrm>
          <a:prstGeom prst="rect">
            <a:avLst/>
          </a:prstGeom>
        </p:spPr>
      </p:pic>
      <p:sp>
        <p:nvSpPr>
          <p:cNvPr id="11" name="Text 7"/>
          <p:cNvSpPr txBox="1"/>
          <p:nvPr/>
        </p:nvSpPr>
        <p:spPr>
          <a:xfrm>
            <a:off x="6217920" y="1371600"/>
            <a:ext cx="2377440" cy="411480"/>
          </a:xfrm>
          <a:prstGeom prst="rect">
            <a:avLst/>
          </a:prstGeom>
          <a:noFill/>
          <a:ln/>
        </p:spPr>
        <p:txBody>
          <a:bodyPr wrap="square" lIns="0" tIns="0" rIns="0" bIns="0" rtlCol="0" anchor="ctr"/>
          <a:lstStyle/>
          <a:p>
            <a:pPr indent="0" marL="0">
              <a:buNone/>
            </a:pPr>
            <a:r>
              <a:rPr lang="en-US" sz="1800" b="1" dirty="0">
                <a:solidFill>
                  <a:srgbClr val="FFC24B"/>
                </a:solidFill>
                <a:latin typeface="Calibri" pitchFamily="34" charset="0"/>
                <a:ea typeface="Calibri" pitchFamily="34" charset="-122"/>
                <a:cs typeface="Calibri" pitchFamily="34" charset="-120"/>
              </a:rPr>
              <a:t>Cho Việt Nam</a:t>
            </a:r>
            <a:endParaRPr lang="en-US" sz="1800" dirty="0"/>
          </a:p>
        </p:txBody>
      </p:sp>
      <p:sp>
        <p:nvSpPr>
          <p:cNvPr id="12" name="Text 8"/>
          <p:cNvSpPr txBox="1"/>
          <p:nvPr/>
        </p:nvSpPr>
        <p:spPr>
          <a:xfrm>
            <a:off x="5623560" y="2057400"/>
            <a:ext cx="2880360" cy="26060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Nâng cao an toàn hàng không từ nhận thức của học sinh, sinh viên và gia đình</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Xây dựng ý thức chấp hành quy định về vùng trời</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Lan tỏa tại 10 địa phương có sân bay; mô hình có thể nhân rộng lâu dài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3A8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Bước tiếp theo</a:t>
            </a:r>
            <a:endParaRPr lang="en-US" sz="3000" dirty="0"/>
          </a:p>
        </p:txBody>
      </p:sp>
      <p:sp>
        <p:nvSpPr>
          <p:cNvPr id="3" name="Shape 1"/>
          <p:cNvSpPr/>
          <p:nvPr/>
        </p:nvSpPr>
        <p:spPr>
          <a:xfrm>
            <a:off x="457200" y="1188720"/>
            <a:ext cx="2651760" cy="1234440"/>
          </a:xfrm>
          <a:prstGeom prst="roundRect">
            <a:avLst>
              <a:gd name="adj" fmla="val 8889"/>
            </a:avLst>
          </a:prstGeom>
          <a:solidFill>
            <a:srgbClr val="FFFFFF">
              <a:alpha val="12000"/>
            </a:srgbClr>
          </a:solidFill>
          <a:ln w="9525">
            <a:solidFill>
              <a:srgbClr val="FFFFFF">
                <a:alpha val="20000"/>
              </a:srgbClr>
            </a:solidFill>
            <a:prstDash val="solid"/>
          </a:ln>
        </p:spPr>
      </p:sp>
      <p:sp>
        <p:nvSpPr>
          <p:cNvPr id="4" name="Shape 2"/>
          <p:cNvSpPr/>
          <p:nvPr/>
        </p:nvSpPr>
        <p:spPr>
          <a:xfrm>
            <a:off x="640080" y="1353312"/>
            <a:ext cx="457200" cy="457200"/>
          </a:xfrm>
          <a:prstGeom prst="ellipse">
            <a:avLst/>
          </a:prstGeom>
          <a:solidFill>
            <a:srgbClr val="FFC24B"/>
          </a:solidFill>
          <a:ln w="12700">
            <a:solidFill>
              <a:srgbClr val="FFC24B"/>
            </a:solidFill>
            <a:prstDash val="solid"/>
          </a:ln>
        </p:spPr>
      </p:sp>
      <p:sp>
        <p:nvSpPr>
          <p:cNvPr id="5" name="Text 3"/>
          <p:cNvSpPr txBox="1"/>
          <p:nvPr/>
        </p:nvSpPr>
        <p:spPr>
          <a:xfrm>
            <a:off x="640080" y="1353312"/>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40080" y="1874520"/>
            <a:ext cx="2286000" cy="5029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Thống nhất hình thức hỗ trợ</a:t>
            </a:r>
            <a:endParaRPr lang="en-US" sz="1350" dirty="0"/>
          </a:p>
        </p:txBody>
      </p:sp>
      <p:sp>
        <p:nvSpPr>
          <p:cNvPr id="7" name="Shape 5"/>
          <p:cNvSpPr/>
          <p:nvPr/>
        </p:nvSpPr>
        <p:spPr>
          <a:xfrm>
            <a:off x="3246120" y="1188720"/>
            <a:ext cx="2651760" cy="1234440"/>
          </a:xfrm>
          <a:prstGeom prst="roundRect">
            <a:avLst>
              <a:gd name="adj" fmla="val 8889"/>
            </a:avLst>
          </a:prstGeom>
          <a:solidFill>
            <a:srgbClr val="FFFFFF">
              <a:alpha val="12000"/>
            </a:srgbClr>
          </a:solidFill>
          <a:ln w="9525">
            <a:solidFill>
              <a:srgbClr val="FFFFFF">
                <a:alpha val="20000"/>
              </a:srgbClr>
            </a:solidFill>
            <a:prstDash val="solid"/>
          </a:ln>
        </p:spPr>
      </p:sp>
      <p:sp>
        <p:nvSpPr>
          <p:cNvPr id="8" name="Shape 6"/>
          <p:cNvSpPr/>
          <p:nvPr/>
        </p:nvSpPr>
        <p:spPr>
          <a:xfrm>
            <a:off x="3429000" y="1353312"/>
            <a:ext cx="457200" cy="457200"/>
          </a:xfrm>
          <a:prstGeom prst="ellipse">
            <a:avLst/>
          </a:prstGeom>
          <a:solidFill>
            <a:srgbClr val="FFC24B"/>
          </a:solidFill>
          <a:ln w="12700">
            <a:solidFill>
              <a:srgbClr val="FFC24B"/>
            </a:solidFill>
            <a:prstDash val="solid"/>
          </a:ln>
        </p:spPr>
      </p:sp>
      <p:sp>
        <p:nvSpPr>
          <p:cNvPr id="9" name="Text 7"/>
          <p:cNvSpPr txBox="1"/>
          <p:nvPr/>
        </p:nvSpPr>
        <p:spPr>
          <a:xfrm>
            <a:off x="3429000" y="1353312"/>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3429000" y="1874520"/>
            <a:ext cx="2286000" cy="5029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Xác nhận với Nhà trường và địa phương</a:t>
            </a:r>
            <a:endParaRPr lang="en-US" sz="1350" dirty="0"/>
          </a:p>
        </p:txBody>
      </p:sp>
      <p:sp>
        <p:nvSpPr>
          <p:cNvPr id="11" name="Shape 9"/>
          <p:cNvSpPr/>
          <p:nvPr/>
        </p:nvSpPr>
        <p:spPr>
          <a:xfrm>
            <a:off x="6035040" y="1188720"/>
            <a:ext cx="2651760" cy="1234440"/>
          </a:xfrm>
          <a:prstGeom prst="roundRect">
            <a:avLst>
              <a:gd name="adj" fmla="val 8889"/>
            </a:avLst>
          </a:prstGeom>
          <a:solidFill>
            <a:srgbClr val="FFFFFF">
              <a:alpha val="12000"/>
            </a:srgbClr>
          </a:solidFill>
          <a:ln w="9525">
            <a:solidFill>
              <a:srgbClr val="FFFFFF">
                <a:alpha val="20000"/>
              </a:srgbClr>
            </a:solidFill>
            <a:prstDash val="solid"/>
          </a:ln>
        </p:spPr>
      </p:sp>
      <p:sp>
        <p:nvSpPr>
          <p:cNvPr id="12" name="Shape 10"/>
          <p:cNvSpPr/>
          <p:nvPr/>
        </p:nvSpPr>
        <p:spPr>
          <a:xfrm>
            <a:off x="6217920" y="1353312"/>
            <a:ext cx="457200" cy="457200"/>
          </a:xfrm>
          <a:prstGeom prst="ellipse">
            <a:avLst/>
          </a:prstGeom>
          <a:solidFill>
            <a:srgbClr val="FFC24B"/>
          </a:solidFill>
          <a:ln w="12700">
            <a:solidFill>
              <a:srgbClr val="FFC24B"/>
            </a:solidFill>
            <a:prstDash val="solid"/>
          </a:ln>
        </p:spPr>
      </p:sp>
      <p:sp>
        <p:nvSpPr>
          <p:cNvPr id="13" name="Text 11"/>
          <p:cNvSpPr txBox="1"/>
          <p:nvPr/>
        </p:nvSpPr>
        <p:spPr>
          <a:xfrm>
            <a:off x="6217920" y="1353312"/>
            <a:ext cx="457200" cy="457200"/>
          </a:xfrm>
          <a:prstGeom prst="rect">
            <a:avLst/>
          </a:prstGeom>
          <a:noFill/>
          <a:ln/>
        </p:spPr>
        <p:txBody>
          <a:bodyPr wrap="square" lIns="0" tIns="0" rIns="0" bIns="0" rtlCol="0" anchor="ctr"/>
          <a:lstStyle/>
          <a:p>
            <a:pPr algn="ctr" indent="0" marL="0">
              <a:buNone/>
            </a:pPr>
            <a:r>
              <a:rPr lang="en-US" sz="1800" b="1" dirty="0">
                <a:solidFill>
                  <a:srgbClr val="083A80"/>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6217920" y="1874520"/>
            <a:ext cx="2286000" cy="5029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Lên lịch thí điểm (tháng 10 hoặc 11/2026)</a:t>
            </a:r>
            <a:endParaRPr lang="en-US" sz="1350" dirty="0"/>
          </a:p>
        </p:txBody>
      </p:sp>
      <p:sp>
        <p:nvSpPr>
          <p:cNvPr id="15" name="Shape 13"/>
          <p:cNvSpPr/>
          <p:nvPr/>
        </p:nvSpPr>
        <p:spPr>
          <a:xfrm>
            <a:off x="457200" y="2697480"/>
            <a:ext cx="8229600" cy="1097280"/>
          </a:xfrm>
          <a:prstGeom prst="roundRect">
            <a:avLst>
              <a:gd name="adj" fmla="val 10000"/>
            </a:avLst>
          </a:prstGeom>
          <a:solidFill>
            <a:srgbClr val="FFFFFF">
              <a:alpha val="12000"/>
            </a:srgbClr>
          </a:solidFill>
          <a:ln w="9525">
            <a:solidFill>
              <a:srgbClr val="FFFFFF">
                <a:alpha val="20000"/>
              </a:srgbClr>
            </a:solidFill>
            <a:prstDash val="solid"/>
          </a:ln>
        </p:spPr>
      </p:sp>
      <p:sp>
        <p:nvSpPr>
          <p:cNvPr id="16" name="Text 14"/>
          <p:cNvSpPr txBox="1"/>
          <p:nvPr/>
        </p:nvSpPr>
        <p:spPr>
          <a:xfrm>
            <a:off x="685800" y="2788920"/>
            <a:ext cx="2743200" cy="256032"/>
          </a:xfrm>
          <a:prstGeom prst="rect">
            <a:avLst/>
          </a:prstGeom>
          <a:noFill/>
          <a:ln/>
        </p:spPr>
        <p:txBody>
          <a:bodyPr wrap="square" lIns="0" tIns="0" rIns="0" bIns="0" rtlCol="0" anchor="t"/>
          <a:lstStyle/>
          <a:p>
            <a:pPr indent="0" marL="0">
              <a:buNone/>
            </a:pPr>
            <a:r>
              <a:rPr lang="en-US" sz="1200" b="1" spc="200" kern="0" dirty="0">
                <a:solidFill>
                  <a:srgbClr val="FFC24B"/>
                </a:solidFill>
                <a:latin typeface="Calibri" pitchFamily="34" charset="0"/>
                <a:ea typeface="Calibri" pitchFamily="34" charset="-122"/>
                <a:cs typeface="Calibri" pitchFamily="34" charset="-120"/>
              </a:rPr>
              <a:t>LIÊN HỆ</a:t>
            </a:r>
            <a:endParaRPr lang="en-US" sz="1200" dirty="0"/>
          </a:p>
        </p:txBody>
      </p:sp>
      <p:sp>
        <p:nvSpPr>
          <p:cNvPr id="17" name="Text 15"/>
          <p:cNvSpPr txBox="1"/>
          <p:nvPr/>
        </p:nvSpPr>
        <p:spPr>
          <a:xfrm>
            <a:off x="685800" y="3063240"/>
            <a:ext cx="7772400"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Ông Trần Hồng Ninh – 090 357 6969</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Bà Ngọc Anh – 0922 397 728</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hotro@giaoduckynang.vn</a:t>
            </a:r>
            <a:endParaRPr lang="en-US" sz="1300" dirty="0"/>
          </a:p>
        </p:txBody>
      </p:sp>
      <p:sp>
        <p:nvSpPr>
          <p:cNvPr id="18" name="Text 16"/>
          <p:cNvSpPr txBox="1"/>
          <p:nvPr/>
        </p:nvSpPr>
        <p:spPr>
          <a:xfrm>
            <a:off x="457200" y="4023360"/>
            <a:ext cx="8229600" cy="640080"/>
          </a:xfrm>
          <a:prstGeom prst="rect">
            <a:avLst/>
          </a:prstGeom>
          <a:noFill/>
          <a:ln/>
        </p:spPr>
        <p:txBody>
          <a:bodyPr wrap="square" lIns="0" tIns="0" rIns="0" bIns="0" rtlCol="0" anchor="ctr"/>
          <a:lstStyle/>
          <a:p>
            <a:pPr indent="0" marL="0">
              <a:buNone/>
            </a:pPr>
            <a:r>
              <a:rPr lang="en-US" sz="2800" b="1" dirty="0">
                <a:solidFill>
                  <a:srgbClr val="FFC24B"/>
                </a:solidFill>
                <a:latin typeface="Cambria" pitchFamily="34" charset="0"/>
                <a:ea typeface="Cambria" pitchFamily="34" charset="-122"/>
                <a:cs typeface="Cambria" pitchFamily="34" charset="-120"/>
              </a:rPr>
              <a:t>Cùng giữ vùng trời bình yên.</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Vùng trời bình yên – Đề xuất đồng hành</dc:title>
  <dc:subject>PptxGenJS Presentation</dc:subject>
  <dc:creator>BVOT GROUP</dc:creator>
  <cp:lastModifiedBy>BVOT GROUP</cp:lastModifiedBy>
  <cp:revision>1</cp:revision>
  <dcterms:created xsi:type="dcterms:W3CDTF">2026-09-29T08:58:22Z</dcterms:created>
  <dcterms:modified xsi:type="dcterms:W3CDTF">2026-09-29T08:58:22Z</dcterms:modified>
</cp:coreProperties>
</file>